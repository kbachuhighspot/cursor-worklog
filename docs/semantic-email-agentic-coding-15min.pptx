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15-min talk. Three buckets: what worked, what broke, what I'd change. I'm anchoring everything to one project — semantic email migration, Feb-May 2026 — so the evidence is concrete, not abstract.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on this slide for ~90 seconds. Numbers matter for credibility. Highlight: the 6,680 lines of skill bundle is the most underrated artifact — not in any single PR but the thing that makes the next migration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~90 seconds on this slide. Lead with the story: every time PM flagged a new pattern, the agent added a [RULE:*] check to the validation harness. By the end, the harness was catching bugs across kinds that hadn't been reviewed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minutes here. This is the centerpiece slide. The cascade pattern is the most important thing the audience will take away. Human teams write the post-mortem weeks later, if at all. Agentic workflow produces the prevention apparatus in the same session as the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minutes. Three cases, ~40 seconds each. The pattern: agent's first answer is to BUILD. Reviewer's contribution is often to DELETE. Best engineering instincts are subtractive; current-gen agents are additive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~90 seconds. Move quickly through these — six labels, one body line each. Goal: get the audience nodding ('oh, we have that problem too'). Don't deep-dive.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minutes. Hit each one quickly. The closing line is the real takeaway: agentic velocity magnifies whatever process state you start with — good or bad.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the asymmetry. Agent does breadth at speed. Human does premise-setting and subtraction. Neither alone is enough. Leave 4-5 minutes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Inter"/>
              </a:rPr>
              <a:t>Cursor / Agentic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D96B0F"/>
                </a:solidFill>
                <a:latin typeface="Inter"/>
              </a:rPr>
              <a:t>on the Semantic Email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EEEEEE"/>
                </a:solidFill>
                <a:latin typeface="Inter"/>
              </a:rPr>
              <a:t>Benefits, challenges, lessons learned — in 15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EEEEE"/>
                </a:solidFill>
                <a:latin typeface="Inter"/>
              </a:rPr>
              <a:t>Kiran Bachu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Project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7A87"/>
                </a:solidFill>
                <a:latin typeface="Inter"/>
              </a:rPr>
              <a:t>Feb 12 → May 18, 2026  ·  one engineer  ·  one Cursor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17830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7A87"/>
                </a:solidFill>
                <a:latin typeface="Inter"/>
              </a:rPr>
              <a:t>20+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A3A3A"/>
                </a:solidFill>
                <a:latin typeface="Inter"/>
              </a:rPr>
              <a:t>PRs
(3 repos)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13432" y="1508760"/>
            <a:ext cx="17830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13432" y="160020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7A87"/>
                </a:solidFill>
                <a:latin typeface="Inter"/>
              </a:rPr>
              <a:t>~30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3432" y="22860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A3A3A"/>
                </a:solidFill>
                <a:latin typeface="Inter"/>
              </a:rPr>
              <a:t>alert kinds
migrated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9664" y="1508760"/>
            <a:ext cx="17830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6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9664" y="160020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96B0F"/>
                </a:solidFill>
                <a:latin typeface="Inter"/>
              </a:rPr>
              <a:t>164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9664" y="22860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A3A3A"/>
                </a:solidFill>
                <a:latin typeface="Inter"/>
              </a:rPr>
              <a:t>worklog
entries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5896" y="1508760"/>
            <a:ext cx="17830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6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25896" y="160020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96B0F"/>
                </a:solidFill>
                <a:latin typeface="Inter"/>
              </a:rPr>
              <a:t>6,680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5896" y="22860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A3A3A"/>
                </a:solidFill>
                <a:latin typeface="Inter"/>
              </a:rPr>
              <a:t>lines: skills
+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508760"/>
            <a:ext cx="17830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8" y="160020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F2D52"/>
                </a:solidFill>
                <a:latin typeface="Inter"/>
              </a:rPr>
              <a:t>11.5k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8" y="22860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A3A3A"/>
                </a:solidFill>
                <a:latin typeface="Inter"/>
              </a:rPr>
              <a:t>LOC in
PR #70801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1508760"/>
            <a:ext cx="17830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160020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F2D52"/>
                </a:solidFill>
                <a:latin typeface="Inter"/>
              </a:rPr>
              <a:t>6,975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2860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A3A3A"/>
                </a:solidFill>
                <a:latin typeface="Inter"/>
              </a:rPr>
              <a:t>lines: validation
harness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83280"/>
            <a:ext cx="278892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45643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7A87"/>
                </a:solidFill>
                <a:latin typeface="Inter"/>
              </a:rPr>
              <a:t>nutella (9 + 6 PRs)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840480"/>
            <a:ext cx="242316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#69502/#69507/#69595 templates → builders → integration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#69976/#70041/#70323 rules data model + seeding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#70320 NotificationEngine (rules-first routing)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#70329 Phase 3 REST API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#70903 validation tooling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#70801 batch-1 fixes (OPEN, 54 files)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383280"/>
            <a:ext cx="278892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6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45643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6B0F"/>
                </a:solidFill>
                <a:latin typeface="Inter"/>
              </a:rPr>
              <a:t>magma (3 PRs)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840480"/>
            <a:ext cx="242316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#8469 Mailworker pre-rendered HTML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#8831 Notification-rules admin UI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#8894 Admin pagination (OPEN)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383280"/>
            <a:ext cx="278892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F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45643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2D52"/>
                </a:solidFill>
                <a:latin typeface="Inter"/>
              </a:rPr>
              <a:t>launchdarkly-flags (#328)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840480"/>
            <a:ext cx="242316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unified_notification_system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semantic_email_enabled_categories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semantic_email_category_overrides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Three-flag composition for PM-batch rollout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3383280"/>
            <a:ext cx="278892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B03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345643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3636"/>
                </a:solidFill>
                <a:latin typeface="Inter"/>
              </a:rPr>
              <a:t>ai-plugins (6,680 lines)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840480"/>
            <a:ext cx="242316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7 SKILL.md files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11 .mdc rule files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Largest: migrate-semantic-email-body-copy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(2,827 lines)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Cross-referenced + symlink-activated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5216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A3A3A"/>
                </a:solidFill>
                <a:latin typeface="Inter"/>
              </a:rPr>
              <a:t>Two parallel tracks: the feature (semantic email)  +  the meta-feature (skills / rules / tooling). Both upgraded simultaneously.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09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A3A3A"/>
                </a:solidFill>
                <a:latin typeface="Inter"/>
              </a:rPr>
              <a:t>Today: 17 commits on the open PR  ·  153 i18n keys regenerated  ·  20+ tooling iterations  ·  one 357-line post-mortem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Benefit 1 — Tooling-as-feedback-loop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7A3C"/>
                </a:solidFill>
                <a:latin typeface="Inter"/>
              </a:rPr>
              <a:t>compare_email_previews.py wasn't designed up-front — it grew rule-by-rule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2D52"/>
                </a:solidFill>
                <a:latin typeface="Inter"/>
              </a:rPr>
              <a:t>• 20+ documented iterations</a:t>
            </a:r>
            <a:r>
              <a:rPr sz="1500">
                <a:solidFill>
                  <a:srgbClr val="3A3A3A"/>
                </a:solidFill>
                <a:latin typeface="Inter"/>
              </a:rPr>
              <a:t>  of one validation tool, in the worklog.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2D52"/>
                </a:solidFill>
                <a:latin typeface="Inter"/>
              </a:rPr>
              <a:t>• 13 entries on May 8 alone</a:t>
            </a:r>
            <a:r>
              <a:rPr sz="1500">
                <a:solidFill>
                  <a:srgbClr val="3A3A3A"/>
                </a:solidFill>
                <a:latin typeface="Inter"/>
              </a:rPr>
              <a:t>  (snapshots, success-rate metrics, --reason-type, …)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2D52"/>
                </a:solidFill>
                <a:latin typeface="Inter"/>
              </a:rPr>
              <a:t>• Each PM-review session →</a:t>
            </a:r>
            <a:r>
              <a:rPr sz="1500">
                <a:solidFill>
                  <a:srgbClr val="3A3A3A"/>
                </a:solidFill>
                <a:latin typeface="Inter"/>
              </a:rPr>
              <a:t>  new [RULE:*] check → retroactively caught bugs in other kinds → more PM feedback.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2D52"/>
                </a:solidFill>
                <a:latin typeface="Inter"/>
              </a:rPr>
              <a:t>• Final tool: 6,975 lines of Python</a:t>
            </a:r>
            <a:r>
              <a:rPr sz="1500">
                <a:solidFill>
                  <a:srgbClr val="3A3A3A"/>
                </a:solidFill>
                <a:latin typeface="Inter"/>
              </a:rPr>
              <a:t>  parity + rubric + snapshot + SMTP/mailpit + --rule-category.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EEEEEE"/>
          </a:solidFill>
          <a:ln w="25400">
            <a:solidFill>
              <a:srgbClr val="2C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7A3C"/>
                </a:solidFill>
                <a:latin typeface="Inter"/>
              </a:rPr>
              <a:t>Why this is the unlock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377440"/>
            <a:ext cx="475488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A3A3A"/>
                </a:solidFill>
                <a:latin typeface="Inter"/>
              </a:rPr>
              <a:t>• Human teams usually build the validation tool AFTER the feature ships.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A3A3A"/>
                </a:solidFill>
                <a:latin typeface="Inter"/>
              </a:rPr>
              <a:t>• Agentic velocity makes it cheap to build the tool DURING the feature.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A3A3A"/>
                </a:solidFill>
                <a:latin typeface="Inter"/>
              </a:rPr>
              <a:t>• So the tool gets to shape the feature.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A3A3A"/>
                </a:solidFill>
                <a:latin typeface="Inter"/>
              </a:rPr>
              <a:t>• No reviewer can eyeball ~30 kinds × N variations side-by-side.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A3A3A"/>
                </a:solidFill>
                <a:latin typeface="Inter"/>
              </a:rPr>
              <a:t>• Without the harness, the kind-by-kind work isn't feasible.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D96B0F"/>
                </a:solidFill>
                <a:latin typeface="Inter"/>
              </a:rPr>
              <a:t>The validation tool is the multiplier. The migration code is the payload.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Benefit 2 — Codified knowledge + the cascade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7A3C"/>
                </a:solidFill>
                <a:latin typeface="Inter"/>
              </a:rPr>
              <a:t>Skill bundle outlives the project. One bug on May 13 spawned the whole prevention apparatus.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5029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188720"/>
              </a:tblGrid>
              <a:tr h="444137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Artifact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Lines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Inter"/>
                        </a:rPr>
                        <a:t>migrate-semantic-email-body-copy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Inter"/>
                        </a:rPr>
                        <a:t>2,827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Inter"/>
                        </a:rPr>
                        <a:t>migrate-notification-kind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Inter"/>
                        </a:rPr>
                        <a:t>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Inter"/>
                        </a:rPr>
                        <a:t>analyze-compare-report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Inter"/>
                        </a:rPr>
                        <a:t>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Inter"/>
                        </a:rPr>
                        <a:t>4 other SKILL.md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Inter"/>
                        </a:rPr>
                        <a:t>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Inter"/>
                        </a:rPr>
                        <a:t>11 .mdc rule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A3A3A"/>
                          </a:solidFill>
                          <a:latin typeface="Inter"/>
                        </a:rPr>
                        <a:t>~2,350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A3A3A"/>
                          </a:solidFill>
                          <a:latin typeface="Inter"/>
                        </a:rPr>
                        <a:t>Total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A3A3A"/>
                          </a:solidFill>
                          <a:latin typeface="Inter"/>
                        </a:rPr>
                        <a:t>6,680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96B0F"/>
                </a:solidFill>
                <a:latin typeface="Inter"/>
              </a:rPr>
              <a:t>Migration code = 30 kinds.  Capability to keep migrating =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5544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D52"/>
                </a:solidFill>
                <a:latin typeface="Inter"/>
              </a:rPr>
              <a:t>The May 13 cascade — 11 worklog entries in one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011680"/>
            <a:ext cx="612648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Inter"/>
              </a:rPr>
              <a:t>• 1. Pattern E lambda dispatch silently broken by Padrino autoloader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Inter"/>
              </a:rPr>
              <a:t>• 2. Fix: move dispatch lambda → method body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Inter"/>
              </a:rPr>
              <a:t>• 3. Update skill with the gotcha + diagnostic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Inter"/>
              </a:rPr>
              <a:t>• 4. Comment sweep: −3,348 net lines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Inter"/>
              </a:rPr>
              <a:t>• 5. Purge opaque taxonomy from code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Inter"/>
              </a:rPr>
              <a:t>• 6. Migrate gate to 3 LD flags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Inter"/>
              </a:rPr>
              <a:t>• 7. Add category gate + noise reduction in compare report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Inter"/>
              </a:rPr>
              <a:t>• 8. Regenerate 153 i18n keys via iidgen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Inter"/>
              </a:rPr>
              <a:t>• 9. Author effective-cursor-rules user rule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Inter"/>
              </a:rPr>
              <a:t>• 10. Create learn-session-fixes skill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A3A3A"/>
                </a:solidFill>
                <a:latin typeface="Inter"/>
              </a:rPr>
              <a:t>• 11. Publish 357-line post-mortem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D96B0F"/>
                </a:solidFill>
                <a:latin typeface="Inter"/>
              </a:rPr>
              <a:t>An agentic session ends at: bug fix → prevention rule → audit → skill update → post-mortem. Same 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B0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Challenge 1 — Wrong premise + over-fix instinct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03636"/>
                </a:solidFill>
                <a:latin typeface="Inter"/>
              </a:rPr>
              <a:t>Agent's first answer is often the expensive one. Human's correction is one sentence.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749039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B03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27632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3636"/>
                </a:solidFill>
                <a:latin typeface="Inter"/>
              </a:rPr>
              <a:t>Wrong premise: KIND_CATEGORY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383279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Agent: 'in-memory registry map is the source of truth.'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User: 'Category lives on NotificationRule.'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Cost: substantial mid-PR refactor across commands, preview, README, specs.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Lesson: pre-load institutional context at kickoff.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3749039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B03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27632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3636"/>
                </a:solidFill>
                <a:latin typeface="Inter"/>
              </a:rPr>
              <a:t>Discoverability: the iidgen incident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383279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A correct rule existed. Agent never read it.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150 hand-crafted descriptive keys shipped on PR.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Runtime parser rejected 22 length-violators.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Agent's first fix: PAD them (preserve hand-crafting).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User: 'did you use ./iidgen?' → 149 keys regenerated.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Cause: stale globs + buried mandate + invisible repo-local skill.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554480"/>
            <a:ext cx="3749039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B03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627632"/>
            <a:ext cx="34747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03636"/>
                </a:solidFill>
                <a:latin typeface="Inter"/>
              </a:rPr>
              <a:t>Over-fix: production gating diagnostic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3383279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Agent proposed a 'decision struct' with frozen schema + richer telemetry.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User: 'just call SemanticEmailCommands.enabled?'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Production telemetry already covers it.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Net: delete the helper instead of building one.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A3A3A"/>
                </a:solidFill>
                <a:latin typeface="Inter"/>
              </a:rPr>
              <a:t>• Lesson: subtractive engineering is the human's contribution.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6B0F"/>
                </a:solidFill>
                <a:latin typeface="Inter"/>
              </a:rPr>
              <a:t>What the human adds is permission-to-be-cheaper.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B0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Challenge 2 — The taxes nobody warned you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03636"/>
                </a:solidFill>
                <a:latin typeface="Inter"/>
              </a:rPr>
              <a:t>Costs that scale with agentic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D52"/>
                </a:solidFill>
                <a:latin typeface="Inter"/>
              </a:rPr>
              <a:t>PR sprawl 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A3A"/>
                </a:solidFill>
                <a:latin typeface="Inter"/>
              </a:rPr>
              <a:t>PR #70801 = 54 files, +11.5k. Hard for reviewers even with a great description.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D52"/>
                </a:solidFill>
                <a:latin typeface="Inter"/>
              </a:rPr>
              <a:t>Narrative-keeping tax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A3A"/>
                </a:solidFill>
                <a:latin typeface="Inter"/>
              </a:rPr>
              <a:t>20+ PRs across 3 repos; no single artifact tells the story. Worklog is the only continuous narrative.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D52"/>
                </a:solidFill>
                <a:latin typeface="Inter"/>
              </a:rPr>
              <a:t>Comment-verbosity 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A3A"/>
                </a:solidFill>
                <a:latin typeface="Inter"/>
              </a:rPr>
              <a:t>First sweep removed 3,348 net lines. Second sweep removed opaque taxonomy. New rule had to be written.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D52"/>
                </a:solidFill>
                <a:latin typeface="Inter"/>
              </a:rPr>
              <a:t>Scope-creep tax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A3A"/>
                </a:solidFill>
                <a:latin typeface="Inter"/>
              </a:rPr>
              <a:t>Agent enriched two production controllers without scoping discussion. Had to be reverted (commit 8ce57876d).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D52"/>
                </a:solidFill>
                <a:latin typeface="Inter"/>
              </a:rPr>
              <a:t>PR-description tax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A3A"/>
                </a:solidFill>
                <a:latin typeface="Inter"/>
              </a:rPr>
              <a:t>#70801 description was ~2,500 words before I trimmed it. Every PR description is now agent output that needs editing.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D52"/>
                </a:solidFill>
                <a:latin typeface="Inter"/>
              </a:rPr>
              <a:t>Production downstream tax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A3A3A"/>
                </a:solidFill>
                <a:latin typeface="Inter"/>
              </a:rPr>
              <a:t>Email volume changes triggered email_tracking_details_v1 timeouts (PR #71197). Ops sizing can lag feature velocity.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96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Lessons learned — 5 process changes for next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D96B0F"/>
                </a:solidFill>
                <a:latin typeface="Inter"/>
              </a:rPr>
              <a:t>1. Pre-load institutional context at kickoff.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55648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A3A"/>
                </a:solidFill>
                <a:latin typeface="Inter"/>
              </a:rPr>
              <a:t>Single sentence: 'X is the canonical source, not Y.' Saves the KIND_CATEGORY-style refactor.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D96B0F"/>
                </a:solidFill>
                <a:latin typeface="Inter"/>
              </a:rPr>
              <a:t>2. Set scope boundaries up front.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15768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A3A"/>
                </a:solidFill>
                <a:latin typeface="Inter"/>
              </a:rPr>
              <a:t>Which files / which paths are out of scope. Saves the apollo.rb revert 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D96B0F"/>
                </a:solidFill>
                <a:latin typeface="Inter"/>
              </a:rPr>
              <a:t>3. Codify discipline rules BEFORE the project, not after.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75888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A3A"/>
                </a:solidFill>
                <a:latin typeface="Inter"/>
              </a:rPr>
              <a:t>concise-code-comments + effective-cursor-rules + iidgen pre-commit hook — all reactively built. Should be inputs, not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D96B0F"/>
                </a:solidFill>
                <a:latin typeface="Inter"/>
              </a:rPr>
              <a:t>4. Use split-to-prs skill earlier.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36008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A3A"/>
                </a:solidFill>
                <a:latin typeface="Inter"/>
              </a:rPr>
              <a:t>Target ≤500 LOC per PR for reviewer sanity. Chained 5×, beats one 54-file PR.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D96B0F"/>
                </a:solidFill>
                <a:latin typeface="Inter"/>
              </a:rPr>
              <a:t>5. Spec-drift pass after every production-code commit.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96128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3A3A"/>
                </a:solidFill>
                <a:latin typeface="Inter"/>
              </a:rPr>
              <a:t>Agent self-prompt: 'find dependent specs, update them in the SAME commit.' Avoids the stale-spec follow-ups.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2D52"/>
                </a:solidFill>
                <a:latin typeface="Inter"/>
              </a:rPr>
              <a:t>Common pattern: invest in process discipline BEFORE velocity ramps, not after.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Inter"/>
              </a:rPr>
              <a:t>The net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D96B0F"/>
                </a:solidFill>
                <a:latin typeface="Inter"/>
              </a:rPr>
              <a:t>Where agentic coding actually shines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Inter"/>
              </a:rPr>
              <a:t>• Tooling-rich migrations where the work is breadth-driven and patterns are codifiable.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Inter"/>
              </a:rPr>
              <a:t>• Projects where the durable artifact is the skill bundle, not the diff.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Inter"/>
              </a:rPr>
              <a:t>• Cross-repo / cross-tool coordination at agent-speed.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D96B0F"/>
                </a:solidFill>
                <a:latin typeface="Inter"/>
              </a:rPr>
              <a:t>Where the human still matters most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9728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Inter"/>
              </a:rPr>
              <a:t>• Setting the premise. Scoping the scope. Asking the deletion question.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Inter"/>
              </a:rPr>
              <a:t>• Permission to be cheaper.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EEEEEE"/>
                </a:solidFill>
                <a:latin typeface="Inter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