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30-45 minute talk reflecting on ~4 months of agent-assisted work across nutella, magma, ai-plugins, and launchdarkly-flags. Anchored in concrete artifacts: PR #70801, the skill bundle, and the cursor-worklog repo.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 this is not a sales pitch. I'm presenting a single project at depth so the audience can decide where these patterns apply to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matter for credibility. The 6,680 lines of skill bundle is the most underrated artifact — it's not in any single PR but it's the thing that makes the next migration faster.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 human-only project this size spends meaningful effort on cross-team scheduling. The agent kept data shape contracts consistent across all four repos without that overhead.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biggest unlock. Most engineering teams build the tool after the feature ships. Agentic velocity makes it cheap to build the tool DURING the feature, so the tool gets to shape the feature. That's a different kind of project.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 stop measuring agentic value by 'lines of code shipped'. Measure it by 'how much less effort will the NEXT similar project take?' The skill bundle is the durable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engineering teams write the post-mortem weeks later, if at all. The agentic workflow naturally produces the prevention apparatus in the same session as the bug — because once the diagnosis is fresh, the cost of writing the rule + audit + post-mortem is 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human engineer would naturally split these into 4 PRs because the cognitive load of tracking all surfaces is high. The agent holds context across all of them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most expensive single mistake of the project. The fix was conceptually simple but cascaded across multiple files. Cheap if caught at premise-set time; expensive after the agent has built around the wrong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Discoverability is the single biggest underestimated failure mode. A rule that doesn't fire is worse than no rule because it creates false confidence ('we have a rule for that'). Commit-time enforcement (pre-commit hook, RuboCop cop) is the real safety net — rules are advisory.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aren't generic Ruby bugs — they're agentic-velocity bugs. They emerged because the agent moved fast through many kinds, and only a SYSTEMATIC validation harness (compare_email_previews.py) made them detectable. Without that tool, several would still be shipping wrong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agent's first instinct is to BUILD. The reviewer's contribution is often to DELETE. Best engineering instincts are usually subtractive; current-gen agents are additive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would have been smaller / non-existent at human-only velocity. They're not deal-breakers — but if you don't budget for them, they compound.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is a small upfront cost that prevents a much larger mid-project cost. The common pattern: invest in process discipline BEFORE velocity ramps, not after.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asymmetry: agent does breadth at speed; human does premise-setting and subtraction. Neither alone is enough.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972800" cy="1371600"/>
          </a:xfrm>
          <a:prstGeom prst="rect">
            <a:avLst/>
          </a:prstGeom>
          <a:noFill/>
        </p:spPr>
        <p:txBody>
          <a:bodyPr wrap="square" lIns="0" rIns="0" tIns="0" bIns="0">
            <a:spAutoFit/>
          </a:bodyPr>
          <a:lstStyle/>
          <a:p>
            <a:pPr algn="l"/>
            <a:r>
              <a:rPr sz="4600" b="1">
                <a:solidFill>
                  <a:srgbClr val="FFFFFF"/>
                </a:solidFill>
                <a:latin typeface="Inter"/>
              </a:rPr>
              <a:t>Cursor / Agentic Coding</a:t>
            </a:r>
          </a:p>
        </p:txBody>
      </p:sp>
      <p:sp>
        <p:nvSpPr>
          <p:cNvPr id="4" name="TextBox 3"/>
          <p:cNvSpPr txBox="1"/>
          <p:nvPr/>
        </p:nvSpPr>
        <p:spPr>
          <a:xfrm>
            <a:off x="640080" y="2377440"/>
            <a:ext cx="10972800" cy="914400"/>
          </a:xfrm>
          <a:prstGeom prst="rect">
            <a:avLst/>
          </a:prstGeom>
          <a:noFill/>
        </p:spPr>
        <p:txBody>
          <a:bodyPr wrap="square" lIns="0" rIns="0" tIns="0" bIns="0">
            <a:spAutoFit/>
          </a:bodyPr>
          <a:lstStyle/>
          <a:p>
            <a:pPr algn="l"/>
            <a:r>
              <a:rPr sz="3600" b="1">
                <a:solidFill>
                  <a:srgbClr val="D96B0F"/>
                </a:solidFill>
                <a:latin typeface="Inter"/>
              </a:rPr>
              <a:t>on the Semantic Email Migration</a:t>
            </a:r>
          </a:p>
        </p:txBody>
      </p:sp>
      <p:sp>
        <p:nvSpPr>
          <p:cNvPr id="5" name="TextBox 4"/>
          <p:cNvSpPr txBox="1"/>
          <p:nvPr/>
        </p:nvSpPr>
        <p:spPr>
          <a:xfrm>
            <a:off x="640080" y="3931920"/>
            <a:ext cx="10972800" cy="548640"/>
          </a:xfrm>
          <a:prstGeom prst="rect">
            <a:avLst/>
          </a:prstGeom>
          <a:noFill/>
        </p:spPr>
        <p:txBody>
          <a:bodyPr wrap="square" lIns="0" rIns="0" tIns="0" bIns="0">
            <a:spAutoFit/>
          </a:bodyPr>
          <a:lstStyle/>
          <a:p>
            <a:pPr algn="l"/>
            <a:r>
              <a:rPr sz="2200" b="0">
                <a:solidFill>
                  <a:srgbClr val="EEEEEE"/>
                </a:solidFill>
                <a:latin typeface="Inter"/>
              </a:rPr>
              <a:t>What worked, what broke, what I'd do differently</a:t>
            </a:r>
          </a:p>
        </p:txBody>
      </p:sp>
      <p:sp>
        <p:nvSpPr>
          <p:cNvPr id="6" name="TextBox 5"/>
          <p:cNvSpPr txBox="1"/>
          <p:nvPr/>
        </p:nvSpPr>
        <p:spPr>
          <a:xfrm>
            <a:off x="640080" y="5943600"/>
            <a:ext cx="10972800" cy="365760"/>
          </a:xfrm>
          <a:prstGeom prst="rect">
            <a:avLst/>
          </a:prstGeom>
          <a:noFill/>
        </p:spPr>
        <p:txBody>
          <a:bodyPr wrap="square" lIns="0" rIns="0" tIns="0" bIns="0">
            <a:spAutoFit/>
          </a:bodyPr>
          <a:lstStyle/>
          <a:p>
            <a:pPr algn="l"/>
            <a:r>
              <a:rPr sz="1600" b="0">
                <a:solidFill>
                  <a:srgbClr val="EEEEEE"/>
                </a:solidFill>
                <a:latin typeface="Inter"/>
              </a:rPr>
              <a:t>Kiran Bachu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What this talk is</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Concrete, evidence-based, no AI-hype slides</a:t>
            </a:r>
          </a:p>
        </p:txBody>
      </p:sp>
      <p:sp>
        <p:nvSpPr>
          <p:cNvPr id="5" name="TextBox 4"/>
          <p:cNvSpPr txBox="1"/>
          <p:nvPr/>
        </p:nvSpPr>
        <p:spPr>
          <a:xfrm>
            <a:off x="640080" y="1463040"/>
            <a:ext cx="10972800" cy="4572000"/>
          </a:xfrm>
          <a:prstGeom prst="rect">
            <a:avLst/>
          </a:prstGeom>
          <a:noFill/>
        </p:spPr>
        <p:txBody>
          <a:bodyPr wrap="square" lIns="0" rIns="0">
            <a:spAutoFit/>
          </a:bodyPr>
          <a:lstStyle/>
          <a:p>
            <a:pPr>
              <a:spcAft>
                <a:spcPts val="1200"/>
              </a:spcAft>
            </a:pPr>
            <a:r>
              <a:rPr sz="2000" b="1">
                <a:solidFill>
                  <a:srgbClr val="0F2D52"/>
                </a:solidFill>
                <a:latin typeface="Inter"/>
              </a:rPr>
              <a:t>• A real project, not a demo.</a:t>
            </a:r>
            <a:r>
              <a:rPr sz="2000">
                <a:solidFill>
                  <a:srgbClr val="3A3A3A"/>
                </a:solidFill>
                <a:latin typeface="Inter"/>
              </a:rPr>
              <a:t>  Feb–May 2026, multi-repo, in production.</a:t>
            </a:r>
          </a:p>
          <a:p>
            <a:pPr>
              <a:spcAft>
                <a:spcPts val="1200"/>
              </a:spcAft>
            </a:pPr>
            <a:r>
              <a:rPr sz="2000" b="1">
                <a:solidFill>
                  <a:srgbClr val="0F2D52"/>
                </a:solidFill>
                <a:latin typeface="Inter"/>
              </a:rPr>
              <a:t>• Specific numbers, not feelings.</a:t>
            </a:r>
            <a:r>
              <a:rPr sz="2000">
                <a:solidFill>
                  <a:srgbClr val="3A3A3A"/>
                </a:solidFill>
                <a:latin typeface="Inter"/>
              </a:rPr>
              <a:t>  Pulled from the worklog, GitHub, and the actual codebase.</a:t>
            </a:r>
          </a:p>
          <a:p>
            <a:pPr>
              <a:spcAft>
                <a:spcPts val="1200"/>
              </a:spcAft>
            </a:pPr>
            <a:r>
              <a:rPr sz="2000" b="1">
                <a:solidFill>
                  <a:srgbClr val="0F2D52"/>
                </a:solidFill>
                <a:latin typeface="Inter"/>
              </a:rPr>
              <a:t>• Both sides honestly.</a:t>
            </a:r>
            <a:r>
              <a:rPr sz="2000">
                <a:solidFill>
                  <a:srgbClr val="3A3A3A"/>
                </a:solidFill>
                <a:latin typeface="Inter"/>
              </a:rPr>
              <a:t>  Benefits and challenges. Some patterns are repeatable; some are taxes you pay.</a:t>
            </a:r>
          </a:p>
          <a:p>
            <a:pPr>
              <a:spcAft>
                <a:spcPts val="1200"/>
              </a:spcAft>
            </a:pPr>
            <a:r>
              <a:rPr sz="2000" b="1">
                <a:solidFill>
                  <a:srgbClr val="0F2D52"/>
                </a:solidFill>
                <a:latin typeface="Inter"/>
              </a:rPr>
              <a:t>• Three exhibits I'll keep coming back to:</a:t>
            </a:r>
            <a:r>
              <a:rPr sz="2000">
                <a:solidFill>
                  <a:srgbClr val="3A3A3A"/>
                </a:solidFill>
                <a:latin typeface="Inter"/>
              </a:rPr>
              <a:t>  PR #70801  ·  the skill bundle (ai-plugins)  ·  the May 13 cascade 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Project shape</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Feb 12 → May 18, 2026  ·  4 repos  ·  the agentic footprint of one engineer</a:t>
            </a:r>
          </a:p>
        </p:txBody>
      </p:sp>
      <p:sp>
        <p:nvSpPr>
          <p:cNvPr id="5" name="Rounded Rectangle 4"/>
          <p:cNvSpPr/>
          <p:nvPr/>
        </p:nvSpPr>
        <p:spPr>
          <a:xfrm>
            <a:off x="548640" y="1554480"/>
            <a:ext cx="3383280" cy="1828800"/>
          </a:xfrm>
          <a:prstGeom prst="roundRect">
            <a:avLst/>
          </a:prstGeom>
          <a:solidFill>
            <a:srgbClr val="FFFFFF"/>
          </a:solidFill>
          <a:ln w="19050">
            <a:solidFill>
              <a:srgbClr val="007A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3383280" cy="822960"/>
          </a:xfrm>
          <a:prstGeom prst="rect">
            <a:avLst/>
          </a:prstGeom>
          <a:noFill/>
        </p:spPr>
        <p:txBody>
          <a:bodyPr wrap="none">
            <a:spAutoFit/>
          </a:bodyPr>
          <a:lstStyle/>
          <a:p>
            <a:pPr algn="ctr"/>
            <a:r>
              <a:rPr sz="3600" b="1">
                <a:solidFill>
                  <a:srgbClr val="007A87"/>
                </a:solidFill>
                <a:latin typeface="Inter"/>
              </a:rPr>
              <a:t>20+</a:t>
            </a:r>
          </a:p>
        </p:txBody>
      </p:sp>
      <p:sp>
        <p:nvSpPr>
          <p:cNvPr id="7" name="TextBox 6"/>
          <p:cNvSpPr txBox="1"/>
          <p:nvPr/>
        </p:nvSpPr>
        <p:spPr>
          <a:xfrm>
            <a:off x="548640" y="2514600"/>
            <a:ext cx="3383280" cy="548640"/>
          </a:xfrm>
          <a:prstGeom prst="rect">
            <a:avLst/>
          </a:prstGeom>
          <a:noFill/>
        </p:spPr>
        <p:txBody>
          <a:bodyPr wrap="square">
            <a:spAutoFit/>
          </a:bodyPr>
          <a:lstStyle/>
          <a:p>
            <a:pPr algn="ctr"/>
            <a:r>
              <a:rPr sz="1100">
                <a:solidFill>
                  <a:srgbClr val="3A3A3A"/>
                </a:solidFill>
                <a:latin typeface="Inter"/>
              </a:rPr>
              <a:t>PRs across 3 repos
(nutella + magma + LD-flags)</a:t>
            </a:r>
          </a:p>
        </p:txBody>
      </p:sp>
      <p:sp>
        <p:nvSpPr>
          <p:cNvPr id="8" name="Rounded Rectangle 7"/>
          <p:cNvSpPr/>
          <p:nvPr/>
        </p:nvSpPr>
        <p:spPr>
          <a:xfrm>
            <a:off x="4572000" y="1554480"/>
            <a:ext cx="3383280" cy="1828800"/>
          </a:xfrm>
          <a:prstGeom prst="roundRect">
            <a:avLst/>
          </a:prstGeom>
          <a:solidFill>
            <a:srgbClr val="FFFFFF"/>
          </a:solidFill>
          <a:ln w="19050">
            <a:solidFill>
              <a:srgbClr val="007A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91640"/>
            <a:ext cx="3383280" cy="822960"/>
          </a:xfrm>
          <a:prstGeom prst="rect">
            <a:avLst/>
          </a:prstGeom>
          <a:noFill/>
        </p:spPr>
        <p:txBody>
          <a:bodyPr wrap="none">
            <a:spAutoFit/>
          </a:bodyPr>
          <a:lstStyle/>
          <a:p>
            <a:pPr algn="ctr"/>
            <a:r>
              <a:rPr sz="3600" b="1">
                <a:solidFill>
                  <a:srgbClr val="007A87"/>
                </a:solidFill>
                <a:latin typeface="Inter"/>
              </a:rPr>
              <a:t>~30</a:t>
            </a:r>
          </a:p>
        </p:txBody>
      </p:sp>
      <p:sp>
        <p:nvSpPr>
          <p:cNvPr id="10" name="TextBox 9"/>
          <p:cNvSpPr txBox="1"/>
          <p:nvPr/>
        </p:nvSpPr>
        <p:spPr>
          <a:xfrm>
            <a:off x="4572000" y="2514600"/>
            <a:ext cx="3383280" cy="548640"/>
          </a:xfrm>
          <a:prstGeom prst="rect">
            <a:avLst/>
          </a:prstGeom>
          <a:noFill/>
        </p:spPr>
        <p:txBody>
          <a:bodyPr wrap="square">
            <a:spAutoFit/>
          </a:bodyPr>
          <a:lstStyle/>
          <a:p>
            <a:pPr algn="ctr"/>
            <a:r>
              <a:rPr sz="1100">
                <a:solidFill>
                  <a:srgbClr val="3A3A3A"/>
                </a:solidFill>
                <a:latin typeface="Inter"/>
              </a:rPr>
              <a:t>alert kinds migrated
(legacy Velocity → MJML semantic)</a:t>
            </a:r>
          </a:p>
        </p:txBody>
      </p:sp>
      <p:sp>
        <p:nvSpPr>
          <p:cNvPr id="11" name="Rounded Rectangle 10"/>
          <p:cNvSpPr/>
          <p:nvPr/>
        </p:nvSpPr>
        <p:spPr>
          <a:xfrm>
            <a:off x="8595360" y="1554480"/>
            <a:ext cx="3383280" cy="1828800"/>
          </a:xfrm>
          <a:prstGeom prst="roundRect">
            <a:avLst/>
          </a:prstGeom>
          <a:solidFill>
            <a:srgbClr val="FFFFFF"/>
          </a:solidFill>
          <a:ln w="19050">
            <a:solidFill>
              <a:srgbClr val="D96B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1691640"/>
            <a:ext cx="3383280" cy="822960"/>
          </a:xfrm>
          <a:prstGeom prst="rect">
            <a:avLst/>
          </a:prstGeom>
          <a:noFill/>
        </p:spPr>
        <p:txBody>
          <a:bodyPr wrap="none">
            <a:spAutoFit/>
          </a:bodyPr>
          <a:lstStyle/>
          <a:p>
            <a:pPr algn="ctr"/>
            <a:r>
              <a:rPr sz="3600" b="1">
                <a:solidFill>
                  <a:srgbClr val="D96B0F"/>
                </a:solidFill>
                <a:latin typeface="Inter"/>
              </a:rPr>
              <a:t>164</a:t>
            </a:r>
          </a:p>
        </p:txBody>
      </p:sp>
      <p:sp>
        <p:nvSpPr>
          <p:cNvPr id="13" name="TextBox 12"/>
          <p:cNvSpPr txBox="1"/>
          <p:nvPr/>
        </p:nvSpPr>
        <p:spPr>
          <a:xfrm>
            <a:off x="8595360" y="2514600"/>
            <a:ext cx="3383280" cy="548640"/>
          </a:xfrm>
          <a:prstGeom prst="rect">
            <a:avLst/>
          </a:prstGeom>
          <a:noFill/>
        </p:spPr>
        <p:txBody>
          <a:bodyPr wrap="square">
            <a:spAutoFit/>
          </a:bodyPr>
          <a:lstStyle/>
          <a:p>
            <a:pPr algn="ctr"/>
            <a:r>
              <a:rPr sz="1100">
                <a:solidFill>
                  <a:srgbClr val="3A3A3A"/>
                </a:solidFill>
                <a:latin typeface="Inter"/>
              </a:rPr>
              <a:t>worklog entries
(~10/wk during peak)</a:t>
            </a:r>
          </a:p>
        </p:txBody>
      </p:sp>
      <p:sp>
        <p:nvSpPr>
          <p:cNvPr id="14" name="Rounded Rectangle 13"/>
          <p:cNvSpPr/>
          <p:nvPr/>
        </p:nvSpPr>
        <p:spPr>
          <a:xfrm>
            <a:off x="548640" y="4114800"/>
            <a:ext cx="3383280" cy="1828800"/>
          </a:xfrm>
          <a:prstGeom prst="roundRect">
            <a:avLst/>
          </a:prstGeom>
          <a:solidFill>
            <a:srgbClr val="FFFFFF"/>
          </a:solidFill>
          <a:ln w="19050">
            <a:solidFill>
              <a:srgbClr val="D96B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251960"/>
            <a:ext cx="3383280" cy="822960"/>
          </a:xfrm>
          <a:prstGeom prst="rect">
            <a:avLst/>
          </a:prstGeom>
          <a:noFill/>
        </p:spPr>
        <p:txBody>
          <a:bodyPr wrap="none">
            <a:spAutoFit/>
          </a:bodyPr>
          <a:lstStyle/>
          <a:p>
            <a:pPr algn="ctr"/>
            <a:r>
              <a:rPr sz="3600" b="1">
                <a:solidFill>
                  <a:srgbClr val="D96B0F"/>
                </a:solidFill>
                <a:latin typeface="Inter"/>
              </a:rPr>
              <a:t>6,680</a:t>
            </a:r>
          </a:p>
        </p:txBody>
      </p:sp>
      <p:sp>
        <p:nvSpPr>
          <p:cNvPr id="16" name="TextBox 15"/>
          <p:cNvSpPr txBox="1"/>
          <p:nvPr/>
        </p:nvSpPr>
        <p:spPr>
          <a:xfrm>
            <a:off x="548640" y="5074920"/>
            <a:ext cx="3383280" cy="548640"/>
          </a:xfrm>
          <a:prstGeom prst="rect">
            <a:avLst/>
          </a:prstGeom>
          <a:noFill/>
        </p:spPr>
        <p:txBody>
          <a:bodyPr wrap="square">
            <a:spAutoFit/>
          </a:bodyPr>
          <a:lstStyle/>
          <a:p>
            <a:pPr algn="ctr"/>
            <a:r>
              <a:rPr sz="1100">
                <a:solidFill>
                  <a:srgbClr val="3A3A3A"/>
                </a:solidFill>
                <a:latin typeface="Inter"/>
              </a:rPr>
              <a:t>lines of skills + rules
(ai-plugins bundle)</a:t>
            </a:r>
          </a:p>
        </p:txBody>
      </p:sp>
      <p:sp>
        <p:nvSpPr>
          <p:cNvPr id="17" name="Rounded Rectangle 16"/>
          <p:cNvSpPr/>
          <p:nvPr/>
        </p:nvSpPr>
        <p:spPr>
          <a:xfrm>
            <a:off x="4572000" y="4114800"/>
            <a:ext cx="3383280" cy="1828800"/>
          </a:xfrm>
          <a:prstGeom prst="roundRect">
            <a:avLst/>
          </a:prstGeom>
          <a:solidFill>
            <a:srgbClr val="FFFFFF"/>
          </a:solidFill>
          <a:ln w="190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251960"/>
            <a:ext cx="3383280" cy="822960"/>
          </a:xfrm>
          <a:prstGeom prst="rect">
            <a:avLst/>
          </a:prstGeom>
          <a:noFill/>
        </p:spPr>
        <p:txBody>
          <a:bodyPr wrap="none">
            <a:spAutoFit/>
          </a:bodyPr>
          <a:lstStyle/>
          <a:p>
            <a:pPr algn="ctr"/>
            <a:r>
              <a:rPr sz="3600" b="1">
                <a:solidFill>
                  <a:srgbClr val="0F2D52"/>
                </a:solidFill>
                <a:latin typeface="Inter"/>
              </a:rPr>
              <a:t>11.5k</a:t>
            </a:r>
          </a:p>
        </p:txBody>
      </p:sp>
      <p:sp>
        <p:nvSpPr>
          <p:cNvPr id="19" name="TextBox 18"/>
          <p:cNvSpPr txBox="1"/>
          <p:nvPr/>
        </p:nvSpPr>
        <p:spPr>
          <a:xfrm>
            <a:off x="4572000" y="5074920"/>
            <a:ext cx="3383280" cy="548640"/>
          </a:xfrm>
          <a:prstGeom prst="rect">
            <a:avLst/>
          </a:prstGeom>
          <a:noFill/>
        </p:spPr>
        <p:txBody>
          <a:bodyPr wrap="square">
            <a:spAutoFit/>
          </a:bodyPr>
          <a:lstStyle/>
          <a:p>
            <a:pPr algn="ctr"/>
            <a:r>
              <a:rPr sz="1100">
                <a:solidFill>
                  <a:srgbClr val="3A3A3A"/>
                </a:solidFill>
                <a:latin typeface="Inter"/>
              </a:rPr>
              <a:t>LOC added in PR #70801
(54 files, batch-1 of fixes)</a:t>
            </a:r>
          </a:p>
        </p:txBody>
      </p:sp>
      <p:sp>
        <p:nvSpPr>
          <p:cNvPr id="20" name="Rounded Rectangle 19"/>
          <p:cNvSpPr/>
          <p:nvPr/>
        </p:nvSpPr>
        <p:spPr>
          <a:xfrm>
            <a:off x="8595360" y="4114800"/>
            <a:ext cx="3383280" cy="1828800"/>
          </a:xfrm>
          <a:prstGeom prst="roundRect">
            <a:avLst/>
          </a:prstGeom>
          <a:solidFill>
            <a:srgbClr val="FFFFFF"/>
          </a:solidFill>
          <a:ln w="190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4251960"/>
            <a:ext cx="3383280" cy="822960"/>
          </a:xfrm>
          <a:prstGeom prst="rect">
            <a:avLst/>
          </a:prstGeom>
          <a:noFill/>
        </p:spPr>
        <p:txBody>
          <a:bodyPr wrap="none">
            <a:spAutoFit/>
          </a:bodyPr>
          <a:lstStyle/>
          <a:p>
            <a:pPr algn="ctr"/>
            <a:r>
              <a:rPr sz="3600" b="1">
                <a:solidFill>
                  <a:srgbClr val="0F2D52"/>
                </a:solidFill>
                <a:latin typeface="Inter"/>
              </a:rPr>
              <a:t>6,975</a:t>
            </a:r>
          </a:p>
        </p:txBody>
      </p:sp>
      <p:sp>
        <p:nvSpPr>
          <p:cNvPr id="22" name="TextBox 21"/>
          <p:cNvSpPr txBox="1"/>
          <p:nvPr/>
        </p:nvSpPr>
        <p:spPr>
          <a:xfrm>
            <a:off x="8595360" y="5074920"/>
            <a:ext cx="3383280" cy="548640"/>
          </a:xfrm>
          <a:prstGeom prst="rect">
            <a:avLst/>
          </a:prstGeom>
          <a:noFill/>
        </p:spPr>
        <p:txBody>
          <a:bodyPr wrap="square">
            <a:spAutoFit/>
          </a:bodyPr>
          <a:lstStyle/>
          <a:p>
            <a:pPr algn="ctr"/>
            <a:r>
              <a:rPr sz="1100">
                <a:solidFill>
                  <a:srgbClr val="3A3A3A"/>
                </a:solidFill>
                <a:latin typeface="Inter"/>
              </a:rPr>
              <a:t>lines: compare_email_previews.py
(validation harness)</a:t>
            </a:r>
          </a:p>
        </p:txBody>
      </p:sp>
      <p:sp>
        <p:nvSpPr>
          <p:cNvPr id="23" name="TextBox 22"/>
          <p:cNvSpPr txBox="1"/>
          <p:nvPr/>
        </p:nvSpPr>
        <p:spPr>
          <a:xfrm>
            <a:off x="548640" y="6217920"/>
            <a:ext cx="10972800" cy="365760"/>
          </a:xfrm>
          <a:prstGeom prst="rect">
            <a:avLst/>
          </a:prstGeom>
          <a:noFill/>
        </p:spPr>
        <p:txBody>
          <a:bodyPr wrap="square" lIns="0" rIns="0" tIns="0" bIns="0">
            <a:spAutoFit/>
          </a:bodyPr>
          <a:lstStyle/>
          <a:p>
            <a:pPr algn="l"/>
            <a:r>
              <a:rPr sz="1300" b="0">
                <a:solidFill>
                  <a:srgbClr val="3A3A3A"/>
                </a:solidFill>
                <a:latin typeface="Inter"/>
              </a:rPr>
              <a:t>Two parallel tracks: the feature (semantic email) and the meta-feature (skills/rules/tooling). Both upgraded simultaneously.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What lives where</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Cross-repo coordination at agent-speed</a:t>
            </a:r>
          </a:p>
        </p:txBody>
      </p:sp>
      <p:sp>
        <p:nvSpPr>
          <p:cNvPr id="5" name="Rounded Rectangle 4"/>
          <p:cNvSpPr/>
          <p:nvPr/>
        </p:nvSpPr>
        <p:spPr>
          <a:xfrm>
            <a:off x="548640" y="1554480"/>
            <a:ext cx="5029200" cy="2560320"/>
          </a:xfrm>
          <a:prstGeom prst="roundRect">
            <a:avLst/>
          </a:prstGeom>
          <a:solidFill>
            <a:srgbClr val="FFFFFF"/>
          </a:solidFill>
          <a:ln w="25400">
            <a:solidFill>
              <a:srgbClr val="007A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4754880" cy="365760"/>
          </a:xfrm>
          <a:prstGeom prst="rect">
            <a:avLst/>
          </a:prstGeom>
          <a:noFill/>
        </p:spPr>
        <p:txBody>
          <a:bodyPr wrap="square" lIns="0" rIns="0" tIns="0" bIns="0">
            <a:spAutoFit/>
          </a:bodyPr>
          <a:lstStyle/>
          <a:p>
            <a:pPr algn="l"/>
            <a:r>
              <a:rPr sz="1600" b="1">
                <a:solidFill>
                  <a:srgbClr val="007A87"/>
                </a:solidFill>
                <a:latin typeface="Inter"/>
              </a:rPr>
              <a:t>nutella  ·  9 semantic-email + 6 rules-infra PRs</a:t>
            </a:r>
          </a:p>
        </p:txBody>
      </p:sp>
      <p:sp>
        <p:nvSpPr>
          <p:cNvPr id="7" name="TextBox 6"/>
          <p:cNvSpPr txBox="1"/>
          <p:nvPr/>
        </p:nvSpPr>
        <p:spPr>
          <a:xfrm>
            <a:off x="685800" y="2148840"/>
            <a:ext cx="4754880" cy="1920240"/>
          </a:xfrm>
          <a:prstGeom prst="rect">
            <a:avLst/>
          </a:prstGeom>
          <a:noFill/>
        </p:spPr>
        <p:txBody>
          <a:bodyPr wrap="square" lIns="0" rIns="0" tIns="0" bIns="0">
            <a:spAutoFit/>
          </a:bodyPr>
          <a:lstStyle/>
          <a:p>
            <a:pPr algn="l"/>
            <a:r>
              <a:rPr sz="1100" b="0">
                <a:solidFill>
                  <a:srgbClr val="3A3A3A"/>
                </a:solidFill>
                <a:latin typeface="Inter"/>
              </a:rPr>
              <a:t>• #69502 / #69507 / #69595  legacy templates → MJML builders → integration layer
• #69976 / #70041 / #70323  data model + seeding (382 rules)
• #70320  NotificationEngine with rules-first routing
• #70329  Phase 3 REST API (operator-only, 9 endpoints)
• #70903  validation tooling (compare_email_previews.py)
• #70801  Batch-1 text/styling fixes (54 files, OPEN)</a:t>
            </a:r>
          </a:p>
        </p:txBody>
      </p:sp>
      <p:sp>
        <p:nvSpPr>
          <p:cNvPr id="8" name="Rounded Rectangle 7"/>
          <p:cNvSpPr/>
          <p:nvPr/>
        </p:nvSpPr>
        <p:spPr>
          <a:xfrm>
            <a:off x="6035040" y="1554480"/>
            <a:ext cx="5303520" cy="2560320"/>
          </a:xfrm>
          <a:prstGeom prst="roundRect">
            <a:avLst/>
          </a:prstGeom>
          <a:solidFill>
            <a:srgbClr val="FFFFFF"/>
          </a:solidFill>
          <a:ln w="25400">
            <a:solidFill>
              <a:srgbClr val="D96B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91640"/>
            <a:ext cx="5029200" cy="365760"/>
          </a:xfrm>
          <a:prstGeom prst="rect">
            <a:avLst/>
          </a:prstGeom>
          <a:noFill/>
        </p:spPr>
        <p:txBody>
          <a:bodyPr wrap="square" lIns="0" rIns="0" tIns="0" bIns="0">
            <a:spAutoFit/>
          </a:bodyPr>
          <a:lstStyle/>
          <a:p>
            <a:pPr algn="l"/>
            <a:r>
              <a:rPr sz="1600" b="1">
                <a:solidFill>
                  <a:srgbClr val="D96B0F"/>
                </a:solidFill>
                <a:latin typeface="Inter"/>
              </a:rPr>
              <a:t>magma  ·  3 PRs</a:t>
            </a:r>
          </a:p>
        </p:txBody>
      </p:sp>
      <p:sp>
        <p:nvSpPr>
          <p:cNvPr id="10" name="TextBox 9"/>
          <p:cNvSpPr txBox="1"/>
          <p:nvPr/>
        </p:nvSpPr>
        <p:spPr>
          <a:xfrm>
            <a:off x="6172200" y="2148840"/>
            <a:ext cx="5029200" cy="1920240"/>
          </a:xfrm>
          <a:prstGeom prst="rect">
            <a:avLst/>
          </a:prstGeom>
          <a:noFill/>
        </p:spPr>
        <p:txBody>
          <a:bodyPr wrap="square" lIns="0" rIns="0" tIns="0" bIns="0">
            <a:spAutoFit/>
          </a:bodyPr>
          <a:lstStyle/>
          <a:p>
            <a:pPr algn="l"/>
            <a:r>
              <a:rPr sz="1100" b="0">
                <a:solidFill>
                  <a:srgbClr val="3A3A3A"/>
                </a:solidFill>
                <a:latin typeface="Inter"/>
              </a:rPr>
              <a:t>• #8469  Mailworker pre-rendered HTML support (Feb)
• #8831  Notification-rules entities view + admin UI
• #8894  Admin pagination follow-up (OPEN)</a:t>
            </a:r>
          </a:p>
        </p:txBody>
      </p:sp>
      <p:sp>
        <p:nvSpPr>
          <p:cNvPr id="11" name="Rounded Rectangle 10"/>
          <p:cNvSpPr/>
          <p:nvPr/>
        </p:nvSpPr>
        <p:spPr>
          <a:xfrm>
            <a:off x="548640" y="4297680"/>
            <a:ext cx="5029200" cy="2194560"/>
          </a:xfrm>
          <a:prstGeom prst="roundRect">
            <a:avLst/>
          </a:prstGeom>
          <a:solidFill>
            <a:srgbClr val="FFFFFF"/>
          </a:solidFill>
          <a:ln w="254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434840"/>
            <a:ext cx="4754880" cy="365760"/>
          </a:xfrm>
          <a:prstGeom prst="rect">
            <a:avLst/>
          </a:prstGeom>
          <a:noFill/>
        </p:spPr>
        <p:txBody>
          <a:bodyPr wrap="square" lIns="0" rIns="0" tIns="0" bIns="0">
            <a:spAutoFit/>
          </a:bodyPr>
          <a:lstStyle/>
          <a:p>
            <a:pPr algn="l"/>
            <a:r>
              <a:rPr sz="1600" b="1">
                <a:solidFill>
                  <a:srgbClr val="0F2D52"/>
                </a:solidFill>
                <a:latin typeface="Inter"/>
              </a:rPr>
              <a:t>launchdarkly-flags  ·  1 PR (#328, MERGED)</a:t>
            </a:r>
          </a:p>
        </p:txBody>
      </p:sp>
      <p:sp>
        <p:nvSpPr>
          <p:cNvPr id="13" name="TextBox 12"/>
          <p:cNvSpPr txBox="1"/>
          <p:nvPr/>
        </p:nvSpPr>
        <p:spPr>
          <a:xfrm>
            <a:off x="685800" y="4892040"/>
            <a:ext cx="4754880" cy="1554480"/>
          </a:xfrm>
          <a:prstGeom prst="rect">
            <a:avLst/>
          </a:prstGeom>
          <a:noFill/>
        </p:spPr>
        <p:txBody>
          <a:bodyPr wrap="square" lIns="0" rIns="0" tIns="0" bIns="0">
            <a:spAutoFit/>
          </a:bodyPr>
          <a:lstStyle/>
          <a:p>
            <a:pPr algn="l"/>
            <a:r>
              <a:rPr sz="1100" b="0">
                <a:solidFill>
                  <a:srgbClr val="3A3A3A"/>
                </a:solidFill>
                <a:latin typeface="Inter"/>
              </a:rPr>
              <a:t>• unified_notification_system  (rollout)
• semantic_email_enabled_categories  (allowlist)
• semantic_email_category_overrides  (per-user / per-domain)</a:t>
            </a:r>
          </a:p>
        </p:txBody>
      </p:sp>
      <p:sp>
        <p:nvSpPr>
          <p:cNvPr id="14" name="Rounded Rectangle 13"/>
          <p:cNvSpPr/>
          <p:nvPr/>
        </p:nvSpPr>
        <p:spPr>
          <a:xfrm>
            <a:off x="6035040" y="4297680"/>
            <a:ext cx="5303520" cy="2194560"/>
          </a:xfrm>
          <a:prstGeom prst="roundRect">
            <a:avLst/>
          </a:prstGeom>
          <a:solidFill>
            <a:srgbClr val="FFFFFF"/>
          </a:solidFill>
          <a:ln w="25400">
            <a:solidFill>
              <a:srgbClr val="B0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4434840"/>
            <a:ext cx="5029200" cy="365760"/>
          </a:xfrm>
          <a:prstGeom prst="rect">
            <a:avLst/>
          </a:prstGeom>
          <a:noFill/>
        </p:spPr>
        <p:txBody>
          <a:bodyPr wrap="square" lIns="0" rIns="0" tIns="0" bIns="0">
            <a:spAutoFit/>
          </a:bodyPr>
          <a:lstStyle/>
          <a:p>
            <a:pPr algn="l"/>
            <a:r>
              <a:rPr sz="1600" b="1">
                <a:solidFill>
                  <a:srgbClr val="B03636"/>
                </a:solidFill>
                <a:latin typeface="Inter"/>
              </a:rPr>
              <a:t>ai-plugins  ·  1 branch  ·  6,680 lines</a:t>
            </a:r>
          </a:p>
        </p:txBody>
      </p:sp>
      <p:sp>
        <p:nvSpPr>
          <p:cNvPr id="16" name="TextBox 15"/>
          <p:cNvSpPr txBox="1"/>
          <p:nvPr/>
        </p:nvSpPr>
        <p:spPr>
          <a:xfrm>
            <a:off x="6172200" y="4892040"/>
            <a:ext cx="5029200" cy="1554480"/>
          </a:xfrm>
          <a:prstGeom prst="rect">
            <a:avLst/>
          </a:prstGeom>
          <a:noFill/>
        </p:spPr>
        <p:txBody>
          <a:bodyPr wrap="square" lIns="0" rIns="0" tIns="0" bIns="0">
            <a:spAutoFit/>
          </a:bodyPr>
          <a:lstStyle/>
          <a:p>
            <a:pPr algn="l"/>
            <a:r>
              <a:rPr sz="1100" b="0">
                <a:solidFill>
                  <a:srgbClr val="3A3A3A"/>
                </a:solidFill>
                <a:latin typeface="Inter"/>
              </a:rPr>
              <a:t>• 7 SKILLs  (migrate-semantic-email-body-copy: 2,827 lines)
• 11 .mdc rules  (content, builders, safety, previews…)
• Cross-referenced front matter + symlink activation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0"/>
            <a:ext cx="10972800" cy="1371600"/>
          </a:xfrm>
          <a:prstGeom prst="rect">
            <a:avLst/>
          </a:prstGeom>
          <a:noFill/>
        </p:spPr>
        <p:txBody>
          <a:bodyPr wrap="square" lIns="0" rIns="0" tIns="0" bIns="0">
            <a:spAutoFit/>
          </a:bodyPr>
          <a:lstStyle/>
          <a:p>
            <a:pPr algn="l"/>
            <a:r>
              <a:rPr sz="7200" b="1">
                <a:solidFill>
                  <a:srgbClr val="FFFFFF"/>
                </a:solidFill>
                <a:latin typeface="Inter"/>
              </a:rPr>
              <a:t>Benefits</a:t>
            </a:r>
          </a:p>
        </p:txBody>
      </p:sp>
      <p:sp>
        <p:nvSpPr>
          <p:cNvPr id="4" name="TextBox 3"/>
          <p:cNvSpPr txBox="1"/>
          <p:nvPr/>
        </p:nvSpPr>
        <p:spPr>
          <a:xfrm>
            <a:off x="640080" y="3840480"/>
            <a:ext cx="10972800" cy="640080"/>
          </a:xfrm>
          <a:prstGeom prst="rect">
            <a:avLst/>
          </a:prstGeom>
          <a:noFill/>
        </p:spPr>
        <p:txBody>
          <a:bodyPr wrap="square" lIns="0" rIns="0" tIns="0" bIns="0">
            <a:spAutoFit/>
          </a:bodyPr>
          <a:lstStyle/>
          <a:p>
            <a:pPr algn="l"/>
            <a:r>
              <a:rPr sz="2200" b="0">
                <a:solidFill>
                  <a:srgbClr val="EEEEEE"/>
                </a:solidFill>
                <a:latin typeface="Inter"/>
              </a:rPr>
              <a:t>Where agentic coding actually shifted what was possible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Benefit 1 — Tooling-as-feedback-loop</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compare_email_previews.py wasn't designed, it grew rule-by-rule</a:t>
            </a:r>
          </a:p>
        </p:txBody>
      </p:sp>
      <p:sp>
        <p:nvSpPr>
          <p:cNvPr id="5" name="TextBox 4"/>
          <p:cNvSpPr txBox="1"/>
          <p:nvPr/>
        </p:nvSpPr>
        <p:spPr>
          <a:xfrm>
            <a:off x="640080" y="1463040"/>
            <a:ext cx="10972800" cy="4114800"/>
          </a:xfrm>
          <a:prstGeom prst="rect">
            <a:avLst/>
          </a:prstGeom>
          <a:noFill/>
        </p:spPr>
        <p:txBody>
          <a:bodyPr wrap="square" lIns="0" rIns="0">
            <a:spAutoFit/>
          </a:bodyPr>
          <a:lstStyle/>
          <a:p>
            <a:pPr>
              <a:spcAft>
                <a:spcPts val="1000"/>
              </a:spcAft>
            </a:pPr>
            <a:r>
              <a:rPr sz="2000" b="1">
                <a:solidFill>
                  <a:srgbClr val="0F2D52"/>
                </a:solidFill>
                <a:latin typeface="Inter"/>
              </a:rPr>
              <a:t>• 20+ documented iterations of one validation tool</a:t>
            </a:r>
            <a:r>
              <a:rPr sz="2000">
                <a:solidFill>
                  <a:srgbClr val="3A3A3A"/>
                </a:solidFill>
                <a:latin typeface="Inter"/>
              </a:rPr>
              <a:t>  in the worklog. 13 entries on May 8 alone.</a:t>
            </a:r>
          </a:p>
          <a:p>
            <a:pPr>
              <a:spcAft>
                <a:spcPts val="1000"/>
              </a:spcAft>
            </a:pPr>
            <a:r>
              <a:rPr sz="2000" b="1">
                <a:solidFill>
                  <a:srgbClr val="0F2D52"/>
                </a:solidFill>
                <a:latin typeface="Inter"/>
              </a:rPr>
              <a:t>• Each PM-review session produced a new [RULE:*] check</a:t>
            </a:r>
            <a:r>
              <a:rPr sz="2000">
                <a:solidFill>
                  <a:srgbClr val="3A3A3A"/>
                </a:solidFill>
                <a:latin typeface="Inter"/>
              </a:rPr>
              <a:t>  which retroactively caught bugs in other kinds, producing more PM feedback.</a:t>
            </a:r>
          </a:p>
          <a:p>
            <a:pPr>
              <a:spcAft>
                <a:spcPts val="1000"/>
              </a:spcAft>
            </a:pPr>
            <a:r>
              <a:rPr sz="2000" b="1">
                <a:solidFill>
                  <a:srgbClr val="0F2D52"/>
                </a:solidFill>
                <a:latin typeface="Inter"/>
              </a:rPr>
              <a:t>• Final tool: 6,975 lines of Python</a:t>
            </a:r>
            <a:r>
              <a:rPr sz="2000">
                <a:solidFill>
                  <a:srgbClr val="3A3A3A"/>
                </a:solidFill>
                <a:latin typeface="Inter"/>
              </a:rPr>
              <a:t>  with parity + rubric + snapshot + SMTP/mailpit + per-rule-category filtering.</a:t>
            </a:r>
          </a:p>
          <a:p>
            <a:pPr>
              <a:spcAft>
                <a:spcPts val="1000"/>
              </a:spcAft>
            </a:pPr>
            <a:r>
              <a:rPr sz="2000" b="1">
                <a:solidFill>
                  <a:srgbClr val="0F2D52"/>
                </a:solidFill>
                <a:latin typeface="Inter"/>
              </a:rPr>
              <a:t>• Without this harness, the 30-kind kind-by-kind work in PR #70801 wouldn't be feasible.</a:t>
            </a:r>
            <a:r>
              <a:rPr sz="2000">
                <a:solidFill>
                  <a:srgbClr val="3A3A3A"/>
                </a:solidFill>
                <a:latin typeface="Inter"/>
              </a:rPr>
              <a:t>  No reviewer (or PM) can eyeball ~30 kinds × N variations × legacy/semantic side-by-side.</a:t>
            </a:r>
          </a:p>
        </p:txBody>
      </p:sp>
      <p:sp>
        <p:nvSpPr>
          <p:cNvPr id="6" name="TextBox 5"/>
          <p:cNvSpPr txBox="1"/>
          <p:nvPr/>
        </p:nvSpPr>
        <p:spPr>
          <a:xfrm>
            <a:off x="640080" y="5943600"/>
            <a:ext cx="10972800" cy="457200"/>
          </a:xfrm>
          <a:prstGeom prst="rect">
            <a:avLst/>
          </a:prstGeom>
          <a:noFill/>
        </p:spPr>
        <p:txBody>
          <a:bodyPr wrap="square" lIns="0" rIns="0" tIns="0" bIns="0">
            <a:spAutoFit/>
          </a:bodyPr>
          <a:lstStyle/>
          <a:p>
            <a:pPr algn="ctr"/>
            <a:r>
              <a:rPr sz="1600" b="1">
                <a:solidFill>
                  <a:srgbClr val="D96B0F"/>
                </a:solidFill>
                <a:latin typeface="Inter"/>
              </a:rPr>
              <a:t>The validation tool is the multiplier. The migration code is the payload.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Benefit 2 — Codified knowledge survives the project</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The skill bundle is the highest-leverage artifact</a:t>
            </a:r>
          </a:p>
        </p:txBody>
      </p:sp>
      <p:graphicFrame>
        <p:nvGraphicFramePr>
          <p:cNvPr id="5" name="Table 4"/>
          <p:cNvGraphicFramePr>
            <a:graphicFrameLocks noGrp="1"/>
          </p:cNvGraphicFramePr>
          <p:nvPr/>
        </p:nvGraphicFramePr>
        <p:xfrm>
          <a:off x="640080" y="1554480"/>
          <a:ext cx="10972800" cy="4114800"/>
        </p:xfrm>
        <a:graphic>
          <a:graphicData uri="http://schemas.openxmlformats.org/drawingml/2006/table">
            <a:tbl>
              <a:tblPr firstRow="1" bandRow="1">
                <a:tableStyleId>{5C22544A-7EE6-4342-B048-85BDC9FD1C3A}</a:tableStyleId>
              </a:tblPr>
              <a:tblGrid>
                <a:gridCol w="4572000"/>
                <a:gridCol w="1371600"/>
                <a:gridCol w="5029200"/>
              </a:tblGrid>
              <a:tr h="457200">
                <a:tc>
                  <a:txBody>
                    <a:bodyPr wrap="square"/>
                    <a:lstStyle/>
                    <a:p>
                      <a:r>
                        <a:rPr sz="1400" b="1">
                          <a:solidFill>
                            <a:srgbClr val="FFFFFF"/>
                          </a:solidFill>
                          <a:latin typeface="Inter"/>
                        </a:rPr>
                        <a:t>Skill / Rule</a:t>
                      </a:r>
                    </a:p>
                  </a:txBody>
                  <a:tcPr>
                    <a:solidFill>
                      <a:srgbClr val="0F2D52"/>
                    </a:solidFill>
                  </a:tcPr>
                </a:tc>
                <a:tc>
                  <a:txBody>
                    <a:bodyPr wrap="square"/>
                    <a:lstStyle/>
                    <a:p>
                      <a:r>
                        <a:rPr sz="1400" b="1">
                          <a:solidFill>
                            <a:srgbClr val="FFFFFF"/>
                          </a:solidFill>
                          <a:latin typeface="Inter"/>
                        </a:rPr>
                        <a:t>Lines</a:t>
                      </a:r>
                    </a:p>
                  </a:txBody>
                  <a:tcPr>
                    <a:solidFill>
                      <a:srgbClr val="0F2D52"/>
                    </a:solidFill>
                  </a:tcPr>
                </a:tc>
                <a:tc>
                  <a:txBody>
                    <a:bodyPr wrap="square"/>
                    <a:lstStyle/>
                    <a:p>
                      <a:r>
                        <a:rPr sz="1400" b="1">
                          <a:solidFill>
                            <a:srgbClr val="FFFFFF"/>
                          </a:solidFill>
                          <a:latin typeface="Inter"/>
                        </a:rPr>
                        <a:t>Purpose</a:t>
                      </a:r>
                    </a:p>
                  </a:txBody>
                  <a:tcPr>
                    <a:solidFill>
                      <a:srgbClr val="0F2D52"/>
                    </a:solidFill>
                  </a:tcPr>
                </a:tc>
              </a:tr>
              <a:tr h="457200">
                <a:tc>
                  <a:txBody>
                    <a:bodyPr wrap="square"/>
                    <a:lstStyle/>
                    <a:p>
                      <a:r>
                        <a:rPr sz="1300" b="0">
                          <a:solidFill>
                            <a:srgbClr val="3A3A3A"/>
                          </a:solidFill>
                          <a:latin typeface="Inter"/>
                        </a:rPr>
                        <a:t>migrate-semantic-email-body-copy</a:t>
                      </a:r>
                    </a:p>
                  </a:txBody>
                  <a:tcPr>
                    <a:solidFill>
                      <a:srgbClr val="FFFFFF"/>
                    </a:solidFill>
                  </a:tcPr>
                </a:tc>
                <a:tc>
                  <a:txBody>
                    <a:bodyPr wrap="square"/>
                    <a:lstStyle/>
                    <a:p>
                      <a:r>
                        <a:rPr sz="1300" b="0">
                          <a:solidFill>
                            <a:srgbClr val="3A3A3A"/>
                          </a:solidFill>
                          <a:latin typeface="Inter"/>
                        </a:rPr>
                        <a:t>2,827</a:t>
                      </a:r>
                    </a:p>
                  </a:txBody>
                  <a:tcPr>
                    <a:solidFill>
                      <a:srgbClr val="FFFFFF"/>
                    </a:solidFill>
                  </a:tcPr>
                </a:tc>
                <a:tc>
                  <a:txBody>
                    <a:bodyPr wrap="square"/>
                    <a:lstStyle/>
                    <a:p>
                      <a:r>
                        <a:rPr sz="1300" b="0">
                          <a:solidFill>
                            <a:srgbClr val="3A3A3A"/>
                          </a:solidFill>
                          <a:latin typeface="Inter"/>
                        </a:rPr>
                        <a:t>Pattern catalog (A–J) for PM-review copy fixes</a:t>
                      </a:r>
                    </a:p>
                  </a:txBody>
                  <a:tcPr>
                    <a:solidFill>
                      <a:srgbClr val="FFFFFF"/>
                    </a:solidFill>
                  </a:tcPr>
                </a:tc>
              </a:tr>
              <a:tr h="457200">
                <a:tc>
                  <a:txBody>
                    <a:bodyPr wrap="square"/>
                    <a:lstStyle/>
                    <a:p>
                      <a:r>
                        <a:rPr sz="1300" b="0">
                          <a:solidFill>
                            <a:srgbClr val="3A3A3A"/>
                          </a:solidFill>
                          <a:latin typeface="Inter"/>
                        </a:rPr>
                        <a:t>migrate-notification-kind</a:t>
                      </a:r>
                    </a:p>
                  </a:txBody>
                  <a:tcPr>
                    <a:solidFill>
                      <a:srgbClr val="EEEEEE"/>
                    </a:solidFill>
                  </a:tcPr>
                </a:tc>
                <a:tc>
                  <a:txBody>
                    <a:bodyPr wrap="square"/>
                    <a:lstStyle/>
                    <a:p>
                      <a:r>
                        <a:rPr sz="1300" b="0">
                          <a:solidFill>
                            <a:srgbClr val="3A3A3A"/>
                          </a:solidFill>
                          <a:latin typeface="Inter"/>
                        </a:rPr>
                        <a:t>362</a:t>
                      </a:r>
                    </a:p>
                  </a:txBody>
                  <a:tcPr>
                    <a:solidFill>
                      <a:srgbClr val="EEEEEE"/>
                    </a:solidFill>
                  </a:tcPr>
                </a:tc>
                <a:tc>
                  <a:txBody>
                    <a:bodyPr wrap="square"/>
                    <a:lstStyle/>
                    <a:p>
                      <a:r>
                        <a:rPr sz="1300" b="0">
                          <a:solidFill>
                            <a:srgbClr val="3A3A3A"/>
                          </a:solidFill>
                          <a:latin typeface="Inter"/>
                        </a:rPr>
                        <a:t>Legacy → semantic migration workflow</a:t>
                      </a:r>
                    </a:p>
                  </a:txBody>
                  <a:tcPr>
                    <a:solidFill>
                      <a:srgbClr val="EEEEEE"/>
                    </a:solidFill>
                  </a:tcPr>
                </a:tc>
              </a:tr>
              <a:tr h="457200">
                <a:tc>
                  <a:txBody>
                    <a:bodyPr wrap="square"/>
                    <a:lstStyle/>
                    <a:p>
                      <a:r>
                        <a:rPr sz="1300" b="0">
                          <a:solidFill>
                            <a:srgbClr val="3A3A3A"/>
                          </a:solidFill>
                          <a:latin typeface="Inter"/>
                        </a:rPr>
                        <a:t>analyze-compare-report</a:t>
                      </a:r>
                    </a:p>
                  </a:txBody>
                  <a:tcPr>
                    <a:solidFill>
                      <a:srgbClr val="FFFFFF"/>
                    </a:solidFill>
                  </a:tcPr>
                </a:tc>
                <a:tc>
                  <a:txBody>
                    <a:bodyPr wrap="square"/>
                    <a:lstStyle/>
                    <a:p>
                      <a:r>
                        <a:rPr sz="1300" b="0">
                          <a:solidFill>
                            <a:srgbClr val="3A3A3A"/>
                          </a:solidFill>
                          <a:latin typeface="Inter"/>
                        </a:rPr>
                        <a:t>349</a:t>
                      </a:r>
                    </a:p>
                  </a:txBody>
                  <a:tcPr>
                    <a:solidFill>
                      <a:srgbClr val="FFFFFF"/>
                    </a:solidFill>
                  </a:tcPr>
                </a:tc>
                <a:tc>
                  <a:txBody>
                    <a:bodyPr wrap="square"/>
                    <a:lstStyle/>
                    <a:p>
                      <a:r>
                        <a:rPr sz="1300" b="0">
                          <a:solidFill>
                            <a:srgbClr val="3A3A3A"/>
                          </a:solidFill>
                          <a:latin typeface="Inter"/>
                        </a:rPr>
                        <a:t>Interpret compare_email_previews.py output</a:t>
                      </a:r>
                    </a:p>
                  </a:txBody>
                  <a:tcPr>
                    <a:solidFill>
                      <a:srgbClr val="FFFFFF"/>
                    </a:solidFill>
                  </a:tcPr>
                </a:tc>
              </a:tr>
              <a:tr h="457200">
                <a:tc>
                  <a:txBody>
                    <a:bodyPr wrap="square"/>
                    <a:lstStyle/>
                    <a:p>
                      <a:r>
                        <a:rPr sz="1300" b="0">
                          <a:solidFill>
                            <a:srgbClr val="3A3A3A"/>
                          </a:solidFill>
                          <a:latin typeface="Inter"/>
                        </a:rPr>
                        <a:t>add-notification-kind</a:t>
                      </a:r>
                    </a:p>
                  </a:txBody>
                  <a:tcPr>
                    <a:solidFill>
                      <a:srgbClr val="EEEEEE"/>
                    </a:solidFill>
                  </a:tcPr>
                </a:tc>
                <a:tc>
                  <a:txBody>
                    <a:bodyPr wrap="square"/>
                    <a:lstStyle/>
                    <a:p>
                      <a:r>
                        <a:rPr sz="1300" b="0">
                          <a:solidFill>
                            <a:srgbClr val="3A3A3A"/>
                          </a:solidFill>
                          <a:latin typeface="Inter"/>
                        </a:rPr>
                        <a:t>154</a:t>
                      </a:r>
                    </a:p>
                  </a:txBody>
                  <a:tcPr>
                    <a:solidFill>
                      <a:srgbClr val="EEEEEE"/>
                    </a:solidFill>
                  </a:tcPr>
                </a:tc>
                <a:tc>
                  <a:txBody>
                    <a:bodyPr wrap="square"/>
                    <a:lstStyle/>
                    <a:p>
                      <a:r>
                        <a:rPr sz="1300" b="0">
                          <a:solidFill>
                            <a:srgbClr val="3A3A3A"/>
                          </a:solidFill>
                          <a:latin typeface="Inter"/>
                        </a:rPr>
                        <a:t>Add a NEW notification kind from scratch</a:t>
                      </a:r>
                    </a:p>
                  </a:txBody>
                  <a:tcPr>
                    <a:solidFill>
                      <a:srgbClr val="EEEEEE"/>
                    </a:solidFill>
                  </a:tcPr>
                </a:tc>
              </a:tr>
              <a:tr h="457200">
                <a:tc>
                  <a:txBody>
                    <a:bodyPr wrap="square"/>
                    <a:lstStyle/>
                    <a:p>
                      <a:r>
                        <a:rPr sz="1300" b="0">
                          <a:solidFill>
                            <a:srgbClr val="3A3A3A"/>
                          </a:solidFill>
                          <a:latin typeface="Inter"/>
                        </a:rPr>
                        <a:t>debug-email-rendering</a:t>
                      </a:r>
                    </a:p>
                  </a:txBody>
                  <a:tcPr>
                    <a:solidFill>
                      <a:srgbClr val="FFFFFF"/>
                    </a:solidFill>
                  </a:tcPr>
                </a:tc>
                <a:tc>
                  <a:txBody>
                    <a:bodyPr wrap="square"/>
                    <a:lstStyle/>
                    <a:p>
                      <a:r>
                        <a:rPr sz="1300" b="0">
                          <a:solidFill>
                            <a:srgbClr val="3A3A3A"/>
                          </a:solidFill>
                          <a:latin typeface="Inter"/>
                        </a:rPr>
                        <a:t>149</a:t>
                      </a:r>
                    </a:p>
                  </a:txBody>
                  <a:tcPr>
                    <a:solidFill>
                      <a:srgbClr val="FFFFFF"/>
                    </a:solidFill>
                  </a:tcPr>
                </a:tc>
                <a:tc>
                  <a:txBody>
                    <a:bodyPr wrap="square"/>
                    <a:lstStyle/>
                    <a:p>
                      <a:r>
                        <a:rPr sz="1300" b="0">
                          <a:solidFill>
                            <a:srgbClr val="3A3A3A"/>
                          </a:solidFill>
                          <a:latin typeface="Inter"/>
                        </a:rPr>
                        <a:t>Troubleshoot fallbacks, missing builders, preview errors</a:t>
                      </a:r>
                    </a:p>
                  </a:txBody>
                  <a:tcPr>
                    <a:solidFill>
                      <a:srgbClr val="FFFFFF"/>
                    </a:solidFill>
                  </a:tcPr>
                </a:tc>
              </a:tr>
              <a:tr h="457200">
                <a:tc>
                  <a:txBody>
                    <a:bodyPr wrap="square"/>
                    <a:lstStyle/>
                    <a:p>
                      <a:r>
                        <a:rPr sz="1300" b="0">
                          <a:solidFill>
                            <a:srgbClr val="3A3A3A"/>
                          </a:solidFill>
                          <a:latin typeface="Inter"/>
                        </a:rPr>
                        <a:t>semantic-email-review</a:t>
                      </a:r>
                    </a:p>
                  </a:txBody>
                  <a:tcPr>
                    <a:solidFill>
                      <a:srgbClr val="EEEEEE"/>
                    </a:solidFill>
                  </a:tcPr>
                </a:tc>
                <a:tc>
                  <a:txBody>
                    <a:bodyPr wrap="square"/>
                    <a:lstStyle/>
                    <a:p>
                      <a:r>
                        <a:rPr sz="1300" b="0">
                          <a:solidFill>
                            <a:srgbClr val="3A3A3A"/>
                          </a:solidFill>
                          <a:latin typeface="Inter"/>
                        </a:rPr>
                        <a:t>147</a:t>
                      </a:r>
                    </a:p>
                  </a:txBody>
                  <a:tcPr>
                    <a:solidFill>
                      <a:srgbClr val="EEEEEE"/>
                    </a:solidFill>
                  </a:tcPr>
                </a:tc>
                <a:tc>
                  <a:txBody>
                    <a:bodyPr wrap="square"/>
                    <a:lstStyle/>
                    <a:p>
                      <a:r>
                        <a:rPr sz="1300" b="0">
                          <a:solidFill>
                            <a:srgbClr val="3A3A3A"/>
                          </a:solidFill>
                          <a:latin typeface="Inter"/>
                        </a:rPr>
                        <a:t>PR review checklist</a:t>
                      </a:r>
                    </a:p>
                  </a:txBody>
                  <a:tcPr>
                    <a:solidFill>
                      <a:srgbClr val="EEEEEE"/>
                    </a:solidFill>
                  </a:tcPr>
                </a:tc>
              </a:tr>
              <a:tr h="457200">
                <a:tc>
                  <a:txBody>
                    <a:bodyPr wrap="square"/>
                    <a:lstStyle/>
                    <a:p>
                      <a:r>
                        <a:rPr sz="1300" b="0">
                          <a:solidFill>
                            <a:srgbClr val="3A3A3A"/>
                          </a:solidFill>
                          <a:latin typeface="Inter"/>
                        </a:rPr>
                        <a:t>email-migration-validation</a:t>
                      </a:r>
                    </a:p>
                  </a:txBody>
                  <a:tcPr>
                    <a:solidFill>
                      <a:srgbClr val="FFFFFF"/>
                    </a:solidFill>
                  </a:tcPr>
                </a:tc>
                <a:tc>
                  <a:txBody>
                    <a:bodyPr wrap="square"/>
                    <a:lstStyle/>
                    <a:p>
                      <a:r>
                        <a:rPr sz="1300" b="0">
                          <a:solidFill>
                            <a:srgbClr val="3A3A3A"/>
                          </a:solidFill>
                          <a:latin typeface="Inter"/>
                        </a:rPr>
                        <a:t>137</a:t>
                      </a:r>
                    </a:p>
                  </a:txBody>
                  <a:tcPr>
                    <a:solidFill>
                      <a:srgbClr val="FFFFFF"/>
                    </a:solidFill>
                  </a:tcPr>
                </a:tc>
                <a:tc>
                  <a:txBody>
                    <a:bodyPr wrap="square"/>
                    <a:lstStyle/>
                    <a:p>
                      <a:r>
                        <a:rPr sz="1300" b="0">
                          <a:solidFill>
                            <a:srgbClr val="3A3A3A"/>
                          </a:solidFill>
                          <a:latin typeface="Inter"/>
                        </a:rPr>
                        <a:t>Run validation tests</a:t>
                      </a:r>
                    </a:p>
                  </a:txBody>
                  <a:tcPr>
                    <a:solidFill>
                      <a:srgbClr val="FFFFFF"/>
                    </a:solidFill>
                  </a:tcPr>
                </a:tc>
              </a:tr>
              <a:tr h="457200">
                <a:tc>
                  <a:txBody>
                    <a:bodyPr wrap="square"/>
                    <a:lstStyle/>
                    <a:p>
                      <a:r>
                        <a:rPr sz="1300" b="0">
                          <a:solidFill>
                            <a:srgbClr val="3A3A3A"/>
                          </a:solidFill>
                          <a:latin typeface="Inter"/>
                        </a:rPr>
                        <a:t>11 .mdc rules</a:t>
                      </a:r>
                    </a:p>
                  </a:txBody>
                  <a:tcPr>
                    <a:solidFill>
                      <a:srgbClr val="EEEEEE"/>
                    </a:solidFill>
                  </a:tcPr>
                </a:tc>
                <a:tc>
                  <a:txBody>
                    <a:bodyPr wrap="square"/>
                    <a:lstStyle/>
                    <a:p>
                      <a:r>
                        <a:rPr sz="1300" b="0">
                          <a:solidFill>
                            <a:srgbClr val="3A3A3A"/>
                          </a:solidFill>
                          <a:latin typeface="Inter"/>
                        </a:rPr>
                        <a:t>~2,350</a:t>
                      </a:r>
                    </a:p>
                  </a:txBody>
                  <a:tcPr>
                    <a:solidFill>
                      <a:srgbClr val="EEEEEE"/>
                    </a:solidFill>
                  </a:tcPr>
                </a:tc>
                <a:tc>
                  <a:txBody>
                    <a:bodyPr wrap="square"/>
                    <a:lstStyle/>
                    <a:p>
                      <a:r>
                        <a:rPr sz="1300" b="0">
                          <a:solidFill>
                            <a:srgbClr val="3A3A3A"/>
                          </a:solidFill>
                          <a:latin typeface="Inter"/>
                        </a:rPr>
                        <a:t>Content, builders, safety, previews, entity parity, …</a:t>
                      </a:r>
                    </a:p>
                  </a:txBody>
                  <a:tcPr>
                    <a:solidFill>
                      <a:srgbClr val="EEEEEE"/>
                    </a:solidFill>
                  </a:tcPr>
                </a:tc>
              </a:tr>
            </a:tbl>
          </a:graphicData>
        </a:graphic>
      </p:graphicFrame>
      <p:sp>
        <p:nvSpPr>
          <p:cNvPr id="6" name="TextBox 5"/>
          <p:cNvSpPr txBox="1"/>
          <p:nvPr/>
        </p:nvSpPr>
        <p:spPr>
          <a:xfrm>
            <a:off x="640080" y="5852160"/>
            <a:ext cx="10972800" cy="457200"/>
          </a:xfrm>
          <a:prstGeom prst="rect">
            <a:avLst/>
          </a:prstGeom>
          <a:noFill/>
        </p:spPr>
        <p:txBody>
          <a:bodyPr wrap="square" lIns="0" rIns="0" tIns="0" bIns="0">
            <a:spAutoFit/>
          </a:bodyPr>
          <a:lstStyle/>
          <a:p>
            <a:pPr algn="ctr"/>
            <a:r>
              <a:rPr sz="1600" b="1">
                <a:solidFill>
                  <a:srgbClr val="D96B0F"/>
                </a:solidFill>
                <a:latin typeface="Inter"/>
              </a:rPr>
              <a:t>The migration code lives in 30 kinds. The capability to keep migrating lives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Benefit 3 — The cascade pattern</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May 13: one bug, 11 worklog entries, infrastructure-level prevention</a:t>
            </a:r>
          </a:p>
        </p:txBody>
      </p:sp>
      <p:sp>
        <p:nvSpPr>
          <p:cNvPr id="5" name="Oval 4"/>
          <p:cNvSpPr/>
          <p:nvPr/>
        </p:nvSpPr>
        <p:spPr>
          <a:xfrm>
            <a:off x="548640" y="1463040"/>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90472"/>
            <a:ext cx="320040" cy="274320"/>
          </a:xfrm>
          <a:prstGeom prst="rect">
            <a:avLst/>
          </a:prstGeom>
          <a:noFill/>
        </p:spPr>
        <p:txBody>
          <a:bodyPr wrap="square" lIns="0" rIns="0" tIns="0" bIns="0">
            <a:spAutoFit/>
          </a:bodyPr>
          <a:lstStyle/>
          <a:p>
            <a:pPr algn="ctr"/>
            <a:r>
              <a:rPr sz="1000" b="1">
                <a:solidFill>
                  <a:srgbClr val="FFFFFF"/>
                </a:solidFill>
                <a:latin typeface="Inter"/>
              </a:rPr>
              <a:t>1</a:t>
            </a:r>
          </a:p>
        </p:txBody>
      </p:sp>
      <p:sp>
        <p:nvSpPr>
          <p:cNvPr id="7" name="TextBox 6"/>
          <p:cNvSpPr txBox="1"/>
          <p:nvPr/>
        </p:nvSpPr>
        <p:spPr>
          <a:xfrm>
            <a:off x="1005840" y="1481328"/>
            <a:ext cx="3657600" cy="365760"/>
          </a:xfrm>
          <a:prstGeom prst="rect">
            <a:avLst/>
          </a:prstGeom>
          <a:noFill/>
        </p:spPr>
        <p:txBody>
          <a:bodyPr wrap="square" lIns="0" rIns="0" tIns="0" bIns="0">
            <a:spAutoFit/>
          </a:bodyPr>
          <a:lstStyle/>
          <a:p>
            <a:pPr algn="l"/>
            <a:r>
              <a:rPr sz="1200" b="1">
                <a:solidFill>
                  <a:srgbClr val="0F2D52"/>
                </a:solidFill>
                <a:latin typeface="Inter"/>
              </a:rPr>
              <a:t>Bug discovered</a:t>
            </a:r>
          </a:p>
        </p:txBody>
      </p:sp>
      <p:sp>
        <p:nvSpPr>
          <p:cNvPr id="8" name="TextBox 7"/>
          <p:cNvSpPr txBox="1"/>
          <p:nvPr/>
        </p:nvSpPr>
        <p:spPr>
          <a:xfrm>
            <a:off x="4754880" y="1481328"/>
            <a:ext cx="7132320" cy="365760"/>
          </a:xfrm>
          <a:prstGeom prst="rect">
            <a:avLst/>
          </a:prstGeom>
          <a:noFill/>
        </p:spPr>
        <p:txBody>
          <a:bodyPr wrap="square" lIns="0" rIns="0" tIns="0" bIns="0">
            <a:spAutoFit/>
          </a:bodyPr>
          <a:lstStyle/>
          <a:p>
            <a:pPr algn="l"/>
            <a:r>
              <a:rPr sz="1100" b="0">
                <a:solidFill>
                  <a:srgbClr val="3A3A3A"/>
                </a:solidFill>
                <a:latin typeface="Inter"/>
              </a:rPr>
              <a:t>Pattern E lambda dispatch silently broken by Padrino autoloader</a:t>
            </a:r>
          </a:p>
        </p:txBody>
      </p:sp>
      <p:sp>
        <p:nvSpPr>
          <p:cNvPr id="9" name="Oval 8"/>
          <p:cNvSpPr/>
          <p:nvPr/>
        </p:nvSpPr>
        <p:spPr>
          <a:xfrm>
            <a:off x="548640" y="1847088"/>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20"/>
            <a:ext cx="320040" cy="274320"/>
          </a:xfrm>
          <a:prstGeom prst="rect">
            <a:avLst/>
          </a:prstGeom>
          <a:noFill/>
        </p:spPr>
        <p:txBody>
          <a:bodyPr wrap="square" lIns="0" rIns="0" tIns="0" bIns="0">
            <a:spAutoFit/>
          </a:bodyPr>
          <a:lstStyle/>
          <a:p>
            <a:pPr algn="ctr"/>
            <a:r>
              <a:rPr sz="1000" b="1">
                <a:solidFill>
                  <a:srgbClr val="FFFFFF"/>
                </a:solidFill>
                <a:latin typeface="Inter"/>
              </a:rPr>
              <a:t>2</a:t>
            </a:r>
          </a:p>
        </p:txBody>
      </p:sp>
      <p:sp>
        <p:nvSpPr>
          <p:cNvPr id="11" name="TextBox 10"/>
          <p:cNvSpPr txBox="1"/>
          <p:nvPr/>
        </p:nvSpPr>
        <p:spPr>
          <a:xfrm>
            <a:off x="1005840" y="1865376"/>
            <a:ext cx="3657600" cy="365760"/>
          </a:xfrm>
          <a:prstGeom prst="rect">
            <a:avLst/>
          </a:prstGeom>
          <a:noFill/>
        </p:spPr>
        <p:txBody>
          <a:bodyPr wrap="square" lIns="0" rIns="0" tIns="0" bIns="0">
            <a:spAutoFit/>
          </a:bodyPr>
          <a:lstStyle/>
          <a:p>
            <a:pPr algn="l"/>
            <a:r>
              <a:rPr sz="1200" b="1">
                <a:solidFill>
                  <a:srgbClr val="0F2D52"/>
                </a:solidFill>
                <a:latin typeface="Inter"/>
              </a:rPr>
              <a:t>Bug fixed</a:t>
            </a:r>
          </a:p>
        </p:txBody>
      </p:sp>
      <p:sp>
        <p:nvSpPr>
          <p:cNvPr id="12" name="TextBox 11"/>
          <p:cNvSpPr txBox="1"/>
          <p:nvPr/>
        </p:nvSpPr>
        <p:spPr>
          <a:xfrm>
            <a:off x="4754880" y="1865376"/>
            <a:ext cx="7132320" cy="365760"/>
          </a:xfrm>
          <a:prstGeom prst="rect">
            <a:avLst/>
          </a:prstGeom>
          <a:noFill/>
        </p:spPr>
        <p:txBody>
          <a:bodyPr wrap="square" lIns="0" rIns="0" tIns="0" bIns="0">
            <a:spAutoFit/>
          </a:bodyPr>
          <a:lstStyle/>
          <a:p>
            <a:pPr algn="l"/>
            <a:r>
              <a:rPr sz="1100" b="0">
                <a:solidFill>
                  <a:srgbClr val="3A3A3A"/>
                </a:solidFill>
                <a:latin typeface="Inter"/>
              </a:rPr>
              <a:t>Move dispatch from registration lambda → method body</a:t>
            </a:r>
          </a:p>
        </p:txBody>
      </p:sp>
      <p:sp>
        <p:nvSpPr>
          <p:cNvPr id="13" name="Oval 12"/>
          <p:cNvSpPr/>
          <p:nvPr/>
        </p:nvSpPr>
        <p:spPr>
          <a:xfrm>
            <a:off x="548640" y="2231136"/>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58568"/>
            <a:ext cx="320040" cy="274320"/>
          </a:xfrm>
          <a:prstGeom prst="rect">
            <a:avLst/>
          </a:prstGeom>
          <a:noFill/>
        </p:spPr>
        <p:txBody>
          <a:bodyPr wrap="square" lIns="0" rIns="0" tIns="0" bIns="0">
            <a:spAutoFit/>
          </a:bodyPr>
          <a:lstStyle/>
          <a:p>
            <a:pPr algn="ctr"/>
            <a:r>
              <a:rPr sz="1000" b="1">
                <a:solidFill>
                  <a:srgbClr val="FFFFFF"/>
                </a:solidFill>
                <a:latin typeface="Inter"/>
              </a:rPr>
              <a:t>3</a:t>
            </a:r>
          </a:p>
        </p:txBody>
      </p:sp>
      <p:sp>
        <p:nvSpPr>
          <p:cNvPr id="15" name="TextBox 14"/>
          <p:cNvSpPr txBox="1"/>
          <p:nvPr/>
        </p:nvSpPr>
        <p:spPr>
          <a:xfrm>
            <a:off x="1005840" y="2249424"/>
            <a:ext cx="3657600" cy="365760"/>
          </a:xfrm>
          <a:prstGeom prst="rect">
            <a:avLst/>
          </a:prstGeom>
          <a:noFill/>
        </p:spPr>
        <p:txBody>
          <a:bodyPr wrap="square" lIns="0" rIns="0" tIns="0" bIns="0">
            <a:spAutoFit/>
          </a:bodyPr>
          <a:lstStyle/>
          <a:p>
            <a:pPr algn="l"/>
            <a:r>
              <a:rPr sz="1200" b="1">
                <a:solidFill>
                  <a:srgbClr val="0F2D52"/>
                </a:solidFill>
                <a:latin typeface="Inter"/>
              </a:rPr>
              <a:t>Skill updated</a:t>
            </a:r>
          </a:p>
        </p:txBody>
      </p:sp>
      <p:sp>
        <p:nvSpPr>
          <p:cNvPr id="16" name="TextBox 15"/>
          <p:cNvSpPr txBox="1"/>
          <p:nvPr/>
        </p:nvSpPr>
        <p:spPr>
          <a:xfrm>
            <a:off x="4754880" y="2249424"/>
            <a:ext cx="7132320" cy="365760"/>
          </a:xfrm>
          <a:prstGeom prst="rect">
            <a:avLst/>
          </a:prstGeom>
          <a:noFill/>
        </p:spPr>
        <p:txBody>
          <a:bodyPr wrap="square" lIns="0" rIns="0" tIns="0" bIns="0">
            <a:spAutoFit/>
          </a:bodyPr>
          <a:lstStyle/>
          <a:p>
            <a:pPr algn="l"/>
            <a:r>
              <a:rPr sz="1100" b="0">
                <a:solidFill>
                  <a:srgbClr val="3A3A3A"/>
                </a:solidFill>
                <a:latin typeface="Inter"/>
              </a:rPr>
              <a:t>Document the gotcha with diagnostic 'if G works but E doesn't…'</a:t>
            </a:r>
          </a:p>
        </p:txBody>
      </p:sp>
      <p:sp>
        <p:nvSpPr>
          <p:cNvPr id="17" name="Oval 16"/>
          <p:cNvSpPr/>
          <p:nvPr/>
        </p:nvSpPr>
        <p:spPr>
          <a:xfrm>
            <a:off x="548640" y="2615184"/>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642616"/>
            <a:ext cx="320040" cy="274320"/>
          </a:xfrm>
          <a:prstGeom prst="rect">
            <a:avLst/>
          </a:prstGeom>
          <a:noFill/>
        </p:spPr>
        <p:txBody>
          <a:bodyPr wrap="square" lIns="0" rIns="0" tIns="0" bIns="0">
            <a:spAutoFit/>
          </a:bodyPr>
          <a:lstStyle/>
          <a:p>
            <a:pPr algn="ctr"/>
            <a:r>
              <a:rPr sz="1000" b="1">
                <a:solidFill>
                  <a:srgbClr val="FFFFFF"/>
                </a:solidFill>
                <a:latin typeface="Inter"/>
              </a:rPr>
              <a:t>4</a:t>
            </a:r>
          </a:p>
        </p:txBody>
      </p:sp>
      <p:sp>
        <p:nvSpPr>
          <p:cNvPr id="19" name="TextBox 18"/>
          <p:cNvSpPr txBox="1"/>
          <p:nvPr/>
        </p:nvSpPr>
        <p:spPr>
          <a:xfrm>
            <a:off x="1005840" y="2633472"/>
            <a:ext cx="3657600" cy="365760"/>
          </a:xfrm>
          <a:prstGeom prst="rect">
            <a:avLst/>
          </a:prstGeom>
          <a:noFill/>
        </p:spPr>
        <p:txBody>
          <a:bodyPr wrap="square" lIns="0" rIns="0" tIns="0" bIns="0">
            <a:spAutoFit/>
          </a:bodyPr>
          <a:lstStyle/>
          <a:p>
            <a:pPr algn="l"/>
            <a:r>
              <a:rPr sz="1200" b="1">
                <a:solidFill>
                  <a:srgbClr val="0F2D52"/>
                </a:solidFill>
                <a:latin typeface="Inter"/>
              </a:rPr>
              <a:t>Comment sweep</a:t>
            </a:r>
          </a:p>
        </p:txBody>
      </p:sp>
      <p:sp>
        <p:nvSpPr>
          <p:cNvPr id="20" name="TextBox 19"/>
          <p:cNvSpPr txBox="1"/>
          <p:nvPr/>
        </p:nvSpPr>
        <p:spPr>
          <a:xfrm>
            <a:off x="4754880" y="2633472"/>
            <a:ext cx="7132320" cy="365760"/>
          </a:xfrm>
          <a:prstGeom prst="rect">
            <a:avLst/>
          </a:prstGeom>
          <a:noFill/>
        </p:spPr>
        <p:txBody>
          <a:bodyPr wrap="square" lIns="0" rIns="0" tIns="0" bIns="0">
            <a:spAutoFit/>
          </a:bodyPr>
          <a:lstStyle/>
          <a:p>
            <a:pPr algn="l"/>
            <a:r>
              <a:rPr sz="1100" b="0">
                <a:solidFill>
                  <a:srgbClr val="3A3A3A"/>
                </a:solidFill>
                <a:latin typeface="Inter"/>
              </a:rPr>
              <a:t>concise-code-comments rule applied; –3,348 net lines</a:t>
            </a:r>
          </a:p>
        </p:txBody>
      </p:sp>
      <p:sp>
        <p:nvSpPr>
          <p:cNvPr id="21" name="Oval 20"/>
          <p:cNvSpPr/>
          <p:nvPr/>
        </p:nvSpPr>
        <p:spPr>
          <a:xfrm>
            <a:off x="548640" y="2999232"/>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026664"/>
            <a:ext cx="320040" cy="274320"/>
          </a:xfrm>
          <a:prstGeom prst="rect">
            <a:avLst/>
          </a:prstGeom>
          <a:noFill/>
        </p:spPr>
        <p:txBody>
          <a:bodyPr wrap="square" lIns="0" rIns="0" tIns="0" bIns="0">
            <a:spAutoFit/>
          </a:bodyPr>
          <a:lstStyle/>
          <a:p>
            <a:pPr algn="ctr"/>
            <a:r>
              <a:rPr sz="1000" b="1">
                <a:solidFill>
                  <a:srgbClr val="FFFFFF"/>
                </a:solidFill>
                <a:latin typeface="Inter"/>
              </a:rPr>
              <a:t>5</a:t>
            </a:r>
          </a:p>
        </p:txBody>
      </p:sp>
      <p:sp>
        <p:nvSpPr>
          <p:cNvPr id="23" name="TextBox 22"/>
          <p:cNvSpPr txBox="1"/>
          <p:nvPr/>
        </p:nvSpPr>
        <p:spPr>
          <a:xfrm>
            <a:off x="1005840" y="3017520"/>
            <a:ext cx="3657600" cy="365760"/>
          </a:xfrm>
          <a:prstGeom prst="rect">
            <a:avLst/>
          </a:prstGeom>
          <a:noFill/>
        </p:spPr>
        <p:txBody>
          <a:bodyPr wrap="square" lIns="0" rIns="0" tIns="0" bIns="0">
            <a:spAutoFit/>
          </a:bodyPr>
          <a:lstStyle/>
          <a:p>
            <a:pPr algn="l"/>
            <a:r>
              <a:rPr sz="1200" b="1">
                <a:solidFill>
                  <a:srgbClr val="0F2D52"/>
                </a:solidFill>
                <a:latin typeface="Inter"/>
              </a:rPr>
              <a:t>Taxonomy purged</a:t>
            </a:r>
          </a:p>
        </p:txBody>
      </p:sp>
      <p:sp>
        <p:nvSpPr>
          <p:cNvPr id="24" name="TextBox 23"/>
          <p:cNvSpPr txBox="1"/>
          <p:nvPr/>
        </p:nvSpPr>
        <p:spPr>
          <a:xfrm>
            <a:off x="4754880" y="3017520"/>
            <a:ext cx="7132320" cy="365760"/>
          </a:xfrm>
          <a:prstGeom prst="rect">
            <a:avLst/>
          </a:prstGeom>
          <a:noFill/>
        </p:spPr>
        <p:txBody>
          <a:bodyPr wrap="square" lIns="0" rIns="0" tIns="0" bIns="0">
            <a:spAutoFit/>
          </a:bodyPr>
          <a:lstStyle/>
          <a:p>
            <a:pPr algn="l"/>
            <a:r>
              <a:rPr sz="1100" b="0">
                <a:solidFill>
                  <a:srgbClr val="3A3A3A"/>
                </a:solidFill>
                <a:latin typeface="Inter"/>
              </a:rPr>
              <a:t>[RULE:foo] and Pattern A/B/C/D names stripped from code</a:t>
            </a:r>
          </a:p>
        </p:txBody>
      </p:sp>
      <p:sp>
        <p:nvSpPr>
          <p:cNvPr id="25" name="Oval 24"/>
          <p:cNvSpPr/>
          <p:nvPr/>
        </p:nvSpPr>
        <p:spPr>
          <a:xfrm>
            <a:off x="548640" y="3383280"/>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410712"/>
            <a:ext cx="320040" cy="274320"/>
          </a:xfrm>
          <a:prstGeom prst="rect">
            <a:avLst/>
          </a:prstGeom>
          <a:noFill/>
        </p:spPr>
        <p:txBody>
          <a:bodyPr wrap="square" lIns="0" rIns="0" tIns="0" bIns="0">
            <a:spAutoFit/>
          </a:bodyPr>
          <a:lstStyle/>
          <a:p>
            <a:pPr algn="ctr"/>
            <a:r>
              <a:rPr sz="1000" b="1">
                <a:solidFill>
                  <a:srgbClr val="FFFFFF"/>
                </a:solidFill>
                <a:latin typeface="Inter"/>
              </a:rPr>
              <a:t>6</a:t>
            </a:r>
          </a:p>
        </p:txBody>
      </p:sp>
      <p:sp>
        <p:nvSpPr>
          <p:cNvPr id="27" name="TextBox 26"/>
          <p:cNvSpPr txBox="1"/>
          <p:nvPr/>
        </p:nvSpPr>
        <p:spPr>
          <a:xfrm>
            <a:off x="1005840" y="3401568"/>
            <a:ext cx="3657600" cy="365760"/>
          </a:xfrm>
          <a:prstGeom prst="rect">
            <a:avLst/>
          </a:prstGeom>
          <a:noFill/>
        </p:spPr>
        <p:txBody>
          <a:bodyPr wrap="square" lIns="0" rIns="0" tIns="0" bIns="0">
            <a:spAutoFit/>
          </a:bodyPr>
          <a:lstStyle/>
          <a:p>
            <a:pPr algn="l"/>
            <a:r>
              <a:rPr sz="1200" b="1">
                <a:solidFill>
                  <a:srgbClr val="0F2D52"/>
                </a:solidFill>
                <a:latin typeface="Inter"/>
              </a:rPr>
              <a:t>LD migration</a:t>
            </a:r>
          </a:p>
        </p:txBody>
      </p:sp>
      <p:sp>
        <p:nvSpPr>
          <p:cNvPr id="28" name="TextBox 27"/>
          <p:cNvSpPr txBox="1"/>
          <p:nvPr/>
        </p:nvSpPr>
        <p:spPr>
          <a:xfrm>
            <a:off x="4754880" y="3401568"/>
            <a:ext cx="7132320" cy="365760"/>
          </a:xfrm>
          <a:prstGeom prst="rect">
            <a:avLst/>
          </a:prstGeom>
          <a:noFill/>
        </p:spPr>
        <p:txBody>
          <a:bodyPr wrap="square" lIns="0" rIns="0" tIns="0" bIns="0">
            <a:spAutoFit/>
          </a:bodyPr>
          <a:lstStyle/>
          <a:p>
            <a:pPr algn="l"/>
            <a:r>
              <a:rPr sz="1100" b="0">
                <a:solidFill>
                  <a:srgbClr val="3A3A3A"/>
                </a:solidFill>
                <a:latin typeface="Inter"/>
              </a:rPr>
              <a:t>Three new flags replace mjml_email_templates + DC kill-switch</a:t>
            </a:r>
          </a:p>
        </p:txBody>
      </p:sp>
      <p:sp>
        <p:nvSpPr>
          <p:cNvPr id="29" name="Oval 28"/>
          <p:cNvSpPr/>
          <p:nvPr/>
        </p:nvSpPr>
        <p:spPr>
          <a:xfrm>
            <a:off x="548640" y="3767328"/>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794760"/>
            <a:ext cx="320040" cy="274320"/>
          </a:xfrm>
          <a:prstGeom prst="rect">
            <a:avLst/>
          </a:prstGeom>
          <a:noFill/>
        </p:spPr>
        <p:txBody>
          <a:bodyPr wrap="square" lIns="0" rIns="0" tIns="0" bIns="0">
            <a:spAutoFit/>
          </a:bodyPr>
          <a:lstStyle/>
          <a:p>
            <a:pPr algn="ctr"/>
            <a:r>
              <a:rPr sz="1000" b="1">
                <a:solidFill>
                  <a:srgbClr val="FFFFFF"/>
                </a:solidFill>
                <a:latin typeface="Inter"/>
              </a:rPr>
              <a:t>7</a:t>
            </a:r>
          </a:p>
        </p:txBody>
      </p:sp>
      <p:sp>
        <p:nvSpPr>
          <p:cNvPr id="31" name="TextBox 30"/>
          <p:cNvSpPr txBox="1"/>
          <p:nvPr/>
        </p:nvSpPr>
        <p:spPr>
          <a:xfrm>
            <a:off x="1005840" y="3785616"/>
            <a:ext cx="3657600" cy="365760"/>
          </a:xfrm>
          <a:prstGeom prst="rect">
            <a:avLst/>
          </a:prstGeom>
          <a:noFill/>
        </p:spPr>
        <p:txBody>
          <a:bodyPr wrap="square" lIns="0" rIns="0" tIns="0" bIns="0">
            <a:spAutoFit/>
          </a:bodyPr>
          <a:lstStyle/>
          <a:p>
            <a:pPr algn="l"/>
            <a:r>
              <a:rPr sz="1200" b="1">
                <a:solidFill>
                  <a:srgbClr val="0F2D52"/>
                </a:solidFill>
                <a:latin typeface="Inter"/>
              </a:rPr>
              <a:t>Category-gating</a:t>
            </a:r>
          </a:p>
        </p:txBody>
      </p:sp>
      <p:sp>
        <p:nvSpPr>
          <p:cNvPr id="32" name="TextBox 31"/>
          <p:cNvSpPr txBox="1"/>
          <p:nvPr/>
        </p:nvSpPr>
        <p:spPr>
          <a:xfrm>
            <a:off x="4754880" y="3785616"/>
            <a:ext cx="7132320" cy="365760"/>
          </a:xfrm>
          <a:prstGeom prst="rect">
            <a:avLst/>
          </a:prstGeom>
          <a:noFill/>
        </p:spPr>
        <p:txBody>
          <a:bodyPr wrap="square" lIns="0" rIns="0" tIns="0" bIns="0">
            <a:spAutoFit/>
          </a:bodyPr>
          <a:lstStyle/>
          <a:p>
            <a:pPr algn="l"/>
            <a:r>
              <a:rPr sz="1100" b="0">
                <a:solidFill>
                  <a:srgbClr val="3A3A3A"/>
                </a:solidFill>
                <a:latin typeface="Inter"/>
              </a:rPr>
              <a:t>Third gate layer; noise reduction in compare report</a:t>
            </a:r>
          </a:p>
        </p:txBody>
      </p:sp>
      <p:sp>
        <p:nvSpPr>
          <p:cNvPr id="33" name="Oval 32"/>
          <p:cNvSpPr/>
          <p:nvPr/>
        </p:nvSpPr>
        <p:spPr>
          <a:xfrm>
            <a:off x="548640" y="4151376"/>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178808"/>
            <a:ext cx="320040" cy="274320"/>
          </a:xfrm>
          <a:prstGeom prst="rect">
            <a:avLst/>
          </a:prstGeom>
          <a:noFill/>
        </p:spPr>
        <p:txBody>
          <a:bodyPr wrap="square" lIns="0" rIns="0" tIns="0" bIns="0">
            <a:spAutoFit/>
          </a:bodyPr>
          <a:lstStyle/>
          <a:p>
            <a:pPr algn="ctr"/>
            <a:r>
              <a:rPr sz="1000" b="1">
                <a:solidFill>
                  <a:srgbClr val="FFFFFF"/>
                </a:solidFill>
                <a:latin typeface="Inter"/>
              </a:rPr>
              <a:t>8</a:t>
            </a:r>
          </a:p>
        </p:txBody>
      </p:sp>
      <p:sp>
        <p:nvSpPr>
          <p:cNvPr id="35" name="TextBox 34"/>
          <p:cNvSpPr txBox="1"/>
          <p:nvPr/>
        </p:nvSpPr>
        <p:spPr>
          <a:xfrm>
            <a:off x="1005840" y="4169664"/>
            <a:ext cx="3657600" cy="365760"/>
          </a:xfrm>
          <a:prstGeom prst="rect">
            <a:avLst/>
          </a:prstGeom>
          <a:noFill/>
        </p:spPr>
        <p:txBody>
          <a:bodyPr wrap="square" lIns="0" rIns="0" tIns="0" bIns="0">
            <a:spAutoFit/>
          </a:bodyPr>
          <a:lstStyle/>
          <a:p>
            <a:pPr algn="l"/>
            <a:r>
              <a:rPr sz="1200" b="1">
                <a:solidFill>
                  <a:srgbClr val="0F2D52"/>
                </a:solidFill>
                <a:latin typeface="Inter"/>
              </a:rPr>
              <a:t>iidgen sweep</a:t>
            </a:r>
          </a:p>
        </p:txBody>
      </p:sp>
      <p:sp>
        <p:nvSpPr>
          <p:cNvPr id="36" name="TextBox 35"/>
          <p:cNvSpPr txBox="1"/>
          <p:nvPr/>
        </p:nvSpPr>
        <p:spPr>
          <a:xfrm>
            <a:off x="4754880" y="4169664"/>
            <a:ext cx="7132320" cy="365760"/>
          </a:xfrm>
          <a:prstGeom prst="rect">
            <a:avLst/>
          </a:prstGeom>
          <a:noFill/>
        </p:spPr>
        <p:txBody>
          <a:bodyPr wrap="square" lIns="0" rIns="0" tIns="0" bIns="0">
            <a:spAutoFit/>
          </a:bodyPr>
          <a:lstStyle/>
          <a:p>
            <a:pPr algn="l"/>
            <a:r>
              <a:rPr sz="1100" b="0">
                <a:solidFill>
                  <a:srgbClr val="3A3A3A"/>
                </a:solidFill>
                <a:latin typeface="Inter"/>
              </a:rPr>
              <a:t>153 keys regenerated (22 length-violators + 130 descriptive + 1 collision)</a:t>
            </a:r>
          </a:p>
        </p:txBody>
      </p:sp>
      <p:sp>
        <p:nvSpPr>
          <p:cNvPr id="37" name="Oval 36"/>
          <p:cNvSpPr/>
          <p:nvPr/>
        </p:nvSpPr>
        <p:spPr>
          <a:xfrm>
            <a:off x="548640" y="4535424"/>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562856"/>
            <a:ext cx="320040" cy="274320"/>
          </a:xfrm>
          <a:prstGeom prst="rect">
            <a:avLst/>
          </a:prstGeom>
          <a:noFill/>
        </p:spPr>
        <p:txBody>
          <a:bodyPr wrap="square" lIns="0" rIns="0" tIns="0" bIns="0">
            <a:spAutoFit/>
          </a:bodyPr>
          <a:lstStyle/>
          <a:p>
            <a:pPr algn="ctr"/>
            <a:r>
              <a:rPr sz="1000" b="1">
                <a:solidFill>
                  <a:srgbClr val="FFFFFF"/>
                </a:solidFill>
                <a:latin typeface="Inter"/>
              </a:rPr>
              <a:t>9</a:t>
            </a:r>
          </a:p>
        </p:txBody>
      </p:sp>
      <p:sp>
        <p:nvSpPr>
          <p:cNvPr id="39" name="TextBox 38"/>
          <p:cNvSpPr txBox="1"/>
          <p:nvPr/>
        </p:nvSpPr>
        <p:spPr>
          <a:xfrm>
            <a:off x="1005840" y="4553712"/>
            <a:ext cx="3657600" cy="365760"/>
          </a:xfrm>
          <a:prstGeom prst="rect">
            <a:avLst/>
          </a:prstGeom>
          <a:noFill/>
        </p:spPr>
        <p:txBody>
          <a:bodyPr wrap="square" lIns="0" rIns="0" tIns="0" bIns="0">
            <a:spAutoFit/>
          </a:bodyPr>
          <a:lstStyle/>
          <a:p>
            <a:pPr algn="l"/>
            <a:r>
              <a:rPr sz="1200" b="1">
                <a:solidFill>
                  <a:srgbClr val="0F2D52"/>
                </a:solidFill>
                <a:latin typeface="Inter"/>
              </a:rPr>
              <a:t>effective-cursor-rules</a:t>
            </a:r>
          </a:p>
        </p:txBody>
      </p:sp>
      <p:sp>
        <p:nvSpPr>
          <p:cNvPr id="40" name="TextBox 39"/>
          <p:cNvSpPr txBox="1"/>
          <p:nvPr/>
        </p:nvSpPr>
        <p:spPr>
          <a:xfrm>
            <a:off x="4754880" y="4553712"/>
            <a:ext cx="7132320" cy="365760"/>
          </a:xfrm>
          <a:prstGeom prst="rect">
            <a:avLst/>
          </a:prstGeom>
          <a:noFill/>
        </p:spPr>
        <p:txBody>
          <a:bodyPr wrap="square" lIns="0" rIns="0" tIns="0" bIns="0">
            <a:spAutoFit/>
          </a:bodyPr>
          <a:lstStyle/>
          <a:p>
            <a:pPr algn="l"/>
            <a:r>
              <a:rPr sz="1100" b="0">
                <a:solidFill>
                  <a:srgbClr val="3A3A3A"/>
                </a:solidFill>
                <a:latin typeface="Inter"/>
              </a:rPr>
              <a:t>User-level rule + 4 root-cause taxonomy + audit scripts</a:t>
            </a:r>
          </a:p>
        </p:txBody>
      </p:sp>
      <p:sp>
        <p:nvSpPr>
          <p:cNvPr id="41" name="Oval 40"/>
          <p:cNvSpPr/>
          <p:nvPr/>
        </p:nvSpPr>
        <p:spPr>
          <a:xfrm>
            <a:off x="548640" y="4919472"/>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946904"/>
            <a:ext cx="320040" cy="274320"/>
          </a:xfrm>
          <a:prstGeom prst="rect">
            <a:avLst/>
          </a:prstGeom>
          <a:noFill/>
        </p:spPr>
        <p:txBody>
          <a:bodyPr wrap="square" lIns="0" rIns="0" tIns="0" bIns="0">
            <a:spAutoFit/>
          </a:bodyPr>
          <a:lstStyle/>
          <a:p>
            <a:pPr algn="ctr"/>
            <a:r>
              <a:rPr sz="1000" b="1">
                <a:solidFill>
                  <a:srgbClr val="FFFFFF"/>
                </a:solidFill>
                <a:latin typeface="Inter"/>
              </a:rPr>
              <a:t>10</a:t>
            </a:r>
          </a:p>
        </p:txBody>
      </p:sp>
      <p:sp>
        <p:nvSpPr>
          <p:cNvPr id="43" name="TextBox 42"/>
          <p:cNvSpPr txBox="1"/>
          <p:nvPr/>
        </p:nvSpPr>
        <p:spPr>
          <a:xfrm>
            <a:off x="1005840" y="4937760"/>
            <a:ext cx="3657600" cy="365760"/>
          </a:xfrm>
          <a:prstGeom prst="rect">
            <a:avLst/>
          </a:prstGeom>
          <a:noFill/>
        </p:spPr>
        <p:txBody>
          <a:bodyPr wrap="square" lIns="0" rIns="0" tIns="0" bIns="0">
            <a:spAutoFit/>
          </a:bodyPr>
          <a:lstStyle/>
          <a:p>
            <a:pPr algn="l"/>
            <a:r>
              <a:rPr sz="1200" b="1">
                <a:solidFill>
                  <a:srgbClr val="0F2D52"/>
                </a:solidFill>
                <a:latin typeface="Inter"/>
              </a:rPr>
              <a:t>learn-session-fixes</a:t>
            </a:r>
          </a:p>
        </p:txBody>
      </p:sp>
      <p:sp>
        <p:nvSpPr>
          <p:cNvPr id="44" name="TextBox 43"/>
          <p:cNvSpPr txBox="1"/>
          <p:nvPr/>
        </p:nvSpPr>
        <p:spPr>
          <a:xfrm>
            <a:off x="4754880" y="4937760"/>
            <a:ext cx="7132320" cy="365760"/>
          </a:xfrm>
          <a:prstGeom prst="rect">
            <a:avLst/>
          </a:prstGeom>
          <a:noFill/>
        </p:spPr>
        <p:txBody>
          <a:bodyPr wrap="square" lIns="0" rIns="0" tIns="0" bIns="0">
            <a:spAutoFit/>
          </a:bodyPr>
          <a:lstStyle/>
          <a:p>
            <a:pPr algn="l"/>
            <a:r>
              <a:rPr sz="1100" b="0">
                <a:solidFill>
                  <a:srgbClr val="3A3A3A"/>
                </a:solidFill>
                <a:latin typeface="Inter"/>
              </a:rPr>
              <a:t>New skill: auto-fires on user acceptance, persists patterns</a:t>
            </a:r>
          </a:p>
        </p:txBody>
      </p:sp>
      <p:sp>
        <p:nvSpPr>
          <p:cNvPr id="45" name="Oval 44"/>
          <p:cNvSpPr/>
          <p:nvPr/>
        </p:nvSpPr>
        <p:spPr>
          <a:xfrm>
            <a:off x="548640" y="5303520"/>
            <a:ext cx="320040" cy="320040"/>
          </a:xfrm>
          <a:prstGeom prst="ellipse">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330952"/>
            <a:ext cx="320040" cy="274320"/>
          </a:xfrm>
          <a:prstGeom prst="rect">
            <a:avLst/>
          </a:prstGeom>
          <a:noFill/>
        </p:spPr>
        <p:txBody>
          <a:bodyPr wrap="square" lIns="0" rIns="0" tIns="0" bIns="0">
            <a:spAutoFit/>
          </a:bodyPr>
          <a:lstStyle/>
          <a:p>
            <a:pPr algn="ctr"/>
            <a:r>
              <a:rPr sz="1000" b="1">
                <a:solidFill>
                  <a:srgbClr val="FFFFFF"/>
                </a:solidFill>
                <a:latin typeface="Inter"/>
              </a:rPr>
              <a:t>11</a:t>
            </a:r>
          </a:p>
        </p:txBody>
      </p:sp>
      <p:sp>
        <p:nvSpPr>
          <p:cNvPr id="47" name="TextBox 46"/>
          <p:cNvSpPr txBox="1"/>
          <p:nvPr/>
        </p:nvSpPr>
        <p:spPr>
          <a:xfrm>
            <a:off x="1005840" y="5321808"/>
            <a:ext cx="3657600" cy="365760"/>
          </a:xfrm>
          <a:prstGeom prst="rect">
            <a:avLst/>
          </a:prstGeom>
          <a:noFill/>
        </p:spPr>
        <p:txBody>
          <a:bodyPr wrap="square" lIns="0" rIns="0" tIns="0" bIns="0">
            <a:spAutoFit/>
          </a:bodyPr>
          <a:lstStyle/>
          <a:p>
            <a:pPr algn="l"/>
            <a:r>
              <a:rPr sz="1200" b="1">
                <a:solidFill>
                  <a:srgbClr val="0F2D52"/>
                </a:solidFill>
                <a:latin typeface="Inter"/>
              </a:rPr>
              <a:t>Post-mortem</a:t>
            </a:r>
          </a:p>
        </p:txBody>
      </p:sp>
      <p:sp>
        <p:nvSpPr>
          <p:cNvPr id="48" name="TextBox 47"/>
          <p:cNvSpPr txBox="1"/>
          <p:nvPr/>
        </p:nvSpPr>
        <p:spPr>
          <a:xfrm>
            <a:off x="4754880" y="5321808"/>
            <a:ext cx="7132320" cy="365760"/>
          </a:xfrm>
          <a:prstGeom prst="rect">
            <a:avLst/>
          </a:prstGeom>
          <a:noFill/>
        </p:spPr>
        <p:txBody>
          <a:bodyPr wrap="square" lIns="0" rIns="0" tIns="0" bIns="0">
            <a:spAutoFit/>
          </a:bodyPr>
          <a:lstStyle/>
          <a:p>
            <a:pPr algn="l"/>
            <a:r>
              <a:rPr sz="1100" b="0">
                <a:solidFill>
                  <a:srgbClr val="3A3A3A"/>
                </a:solidFill>
                <a:latin typeface="Inter"/>
              </a:rPr>
              <a:t>docs/effective-cursor-rules-and-skills.md  ·  357 lines</a:t>
            </a:r>
          </a:p>
        </p:txBody>
      </p:sp>
      <p:sp>
        <p:nvSpPr>
          <p:cNvPr id="49" name="TextBox 48"/>
          <p:cNvSpPr txBox="1"/>
          <p:nvPr/>
        </p:nvSpPr>
        <p:spPr>
          <a:xfrm>
            <a:off x="548640" y="6126480"/>
            <a:ext cx="10972800" cy="457200"/>
          </a:xfrm>
          <a:prstGeom prst="rect">
            <a:avLst/>
          </a:prstGeom>
          <a:noFill/>
        </p:spPr>
        <p:txBody>
          <a:bodyPr wrap="square" lIns="0" rIns="0" tIns="0" bIns="0">
            <a:spAutoFit/>
          </a:bodyPr>
          <a:lstStyle/>
          <a:p>
            <a:pPr algn="ctr"/>
            <a:r>
              <a:rPr sz="1400" b="1">
                <a:solidFill>
                  <a:srgbClr val="D96B0F"/>
                </a:solidFill>
                <a:latin typeface="Inter"/>
              </a:rPr>
              <a:t>What an agentic session looks like: fix → prevent → audit → publish, all in the same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Benefit 4 — Refactor courage &amp; cross-tool integration</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Coordinated changes a single human would split across PRs</a:t>
            </a:r>
          </a:p>
        </p:txBody>
      </p:sp>
      <p:sp>
        <p:nvSpPr>
          <p:cNvPr id="5" name="TextBox 4"/>
          <p:cNvSpPr txBox="1"/>
          <p:nvPr/>
        </p:nvSpPr>
        <p:spPr>
          <a:xfrm>
            <a:off x="640080" y="1463040"/>
            <a:ext cx="10972800" cy="4114800"/>
          </a:xfrm>
          <a:prstGeom prst="rect">
            <a:avLst/>
          </a:prstGeom>
          <a:noFill/>
        </p:spPr>
        <p:txBody>
          <a:bodyPr wrap="square" lIns="0" rIns="0">
            <a:spAutoFit/>
          </a:bodyPr>
          <a:lstStyle/>
          <a:p>
            <a:pPr>
              <a:spcAft>
                <a:spcPts val="1000"/>
              </a:spcAft>
            </a:pPr>
            <a:r>
              <a:rPr sz="1800" b="1">
                <a:solidFill>
                  <a:srgbClr val="0F2D52"/>
                </a:solidFill>
                <a:latin typeface="Inter"/>
              </a:rPr>
              <a:t>• Category-gate rewire (KIND_CATEGORY → NotificationRule.category)</a:t>
            </a:r>
            <a:r>
              <a:rPr sz="1800">
                <a:solidFill>
                  <a:srgbClr val="3A3A3A"/>
                </a:solidFill>
                <a:latin typeface="Inter"/>
              </a:rPr>
              <a:t>  touched commands, preview, 3 LD flags, README docs, 2 spec files in one commit.</a:t>
            </a:r>
          </a:p>
          <a:p>
            <a:pPr>
              <a:spcAft>
                <a:spcPts val="1000"/>
              </a:spcAft>
            </a:pPr>
            <a:r>
              <a:rPr sz="1800" b="1">
                <a:solidFill>
                  <a:srgbClr val="0F2D52"/>
                </a:solidFill>
                <a:latin typeface="Inter"/>
              </a:rPr>
              <a:t>• Validator change (items can carry html_content without primary_identifier)</a:t>
            </a:r>
            <a:r>
              <a:rPr sz="1800">
                <a:solidFill>
                  <a:srgbClr val="3A3A3A"/>
                </a:solidFill>
                <a:latin typeface="Inter"/>
              </a:rPr>
              <a:t>  affected validator + 5 builders + mocks + renderer spec in one coordinated commit.</a:t>
            </a:r>
          </a:p>
          <a:p>
            <a:pPr>
              <a:spcAft>
                <a:spcPts val="1000"/>
              </a:spcAft>
            </a:pPr>
            <a:r>
              <a:rPr sz="1800" b="1">
                <a:solidFill>
                  <a:srgbClr val="0F2D52"/>
                </a:solidFill>
                <a:latin typeface="Inter"/>
              </a:rPr>
              <a:t>• 153 i18n keys regenerated via iidgen with collision verification</a:t>
            </a:r>
            <a:r>
              <a:rPr sz="1800">
                <a:solidFill>
                  <a:srgbClr val="3A3A3A"/>
                </a:solidFill>
                <a:latin typeface="Inter"/>
              </a:rPr>
              <a:t>  pure mechanical drudgery a human would skip / postpone.</a:t>
            </a:r>
          </a:p>
          <a:p>
            <a:pPr>
              <a:spcAft>
                <a:spcPts val="1000"/>
              </a:spcAft>
            </a:pPr>
            <a:r>
              <a:rPr sz="1800" b="1">
                <a:solidFill>
                  <a:srgbClr val="0F2D52"/>
                </a:solidFill>
                <a:latin typeface="Inter"/>
              </a:rPr>
              <a:t>• 3,348 net comment lines pruned in one commit</a:t>
            </a:r>
            <a:r>
              <a:rPr sz="1800">
                <a:solidFill>
                  <a:srgbClr val="3A3A3A"/>
                </a:solidFill>
                <a:latin typeface="Inter"/>
              </a:rPr>
              <a:t>  without losing 'why' anchors — hard to do manually.</a:t>
            </a:r>
          </a:p>
          <a:p>
            <a:pPr>
              <a:spcAft>
                <a:spcPts val="1000"/>
              </a:spcAft>
            </a:pPr>
            <a:r>
              <a:rPr sz="1800" b="1">
                <a:solidFill>
                  <a:srgbClr val="0F2D52"/>
                </a:solidFill>
                <a:latin typeface="Inter"/>
              </a:rPr>
              <a:t>• Cross-tool flow without context-switch tax:</a:t>
            </a:r>
            <a:r>
              <a:rPr sz="1800">
                <a:solidFill>
                  <a:srgbClr val="3A3A3A"/>
                </a:solidFill>
                <a:latin typeface="Inter"/>
              </a:rPr>
              <a:t>  Jira ticket linkage  ·  GitHub PR rewrites  ·  NewRelic instrumentation  ·  LD flag wiring  ·  worklog auto-updates.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0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0"/>
            <a:ext cx="10972800" cy="1371600"/>
          </a:xfrm>
          <a:prstGeom prst="rect">
            <a:avLst/>
          </a:prstGeom>
          <a:noFill/>
        </p:spPr>
        <p:txBody>
          <a:bodyPr wrap="square" lIns="0" rIns="0" tIns="0" bIns="0">
            <a:spAutoFit/>
          </a:bodyPr>
          <a:lstStyle/>
          <a:p>
            <a:pPr algn="l"/>
            <a:r>
              <a:rPr sz="7200" b="1">
                <a:solidFill>
                  <a:srgbClr val="FFFFFF"/>
                </a:solidFill>
                <a:latin typeface="Inter"/>
              </a:rPr>
              <a:t>Challenges</a:t>
            </a:r>
          </a:p>
        </p:txBody>
      </p:sp>
      <p:sp>
        <p:nvSpPr>
          <p:cNvPr id="4" name="TextBox 3"/>
          <p:cNvSpPr txBox="1"/>
          <p:nvPr/>
        </p:nvSpPr>
        <p:spPr>
          <a:xfrm>
            <a:off x="640080" y="3840480"/>
            <a:ext cx="10972800" cy="640080"/>
          </a:xfrm>
          <a:prstGeom prst="rect">
            <a:avLst/>
          </a:prstGeom>
          <a:noFill/>
        </p:spPr>
        <p:txBody>
          <a:bodyPr wrap="square" lIns="0" rIns="0" tIns="0" bIns="0">
            <a:spAutoFit/>
          </a:bodyPr>
          <a:lstStyle/>
          <a:p>
            <a:pPr algn="l"/>
            <a:r>
              <a:rPr sz="2200" b="0">
                <a:solidFill>
                  <a:srgbClr val="EEEEEE"/>
                </a:solidFill>
                <a:latin typeface="Inter"/>
              </a:rPr>
              <a:t>The taxes you pay for agentic velocity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Challenge 1 — Missing institutional context</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Agent assumes a premise; only the human can correct it</a:t>
            </a:r>
          </a:p>
        </p:txBody>
      </p:sp>
      <p:sp>
        <p:nvSpPr>
          <p:cNvPr id="5" name="TextBox 4"/>
          <p:cNvSpPr txBox="1"/>
          <p:nvPr/>
        </p:nvSpPr>
        <p:spPr>
          <a:xfrm>
            <a:off x="640080" y="1463040"/>
            <a:ext cx="10972800" cy="2377440"/>
          </a:xfrm>
          <a:prstGeom prst="rect">
            <a:avLst/>
          </a:prstGeom>
          <a:noFill/>
        </p:spPr>
        <p:txBody>
          <a:bodyPr wrap="square" lIns="0" rIns="0">
            <a:spAutoFit/>
          </a:bodyPr>
          <a:lstStyle/>
          <a:p>
            <a:pPr>
              <a:spcAft>
                <a:spcPts val="1000"/>
              </a:spcAft>
            </a:pPr>
            <a:r>
              <a:rPr sz="1800" b="1">
                <a:solidFill>
                  <a:srgbClr val="0F2D52"/>
                </a:solidFill>
                <a:latin typeface="Inter"/>
              </a:rPr>
              <a:t>• Agent: 'KIND_CATEGORY (in-memory registry map) is the source of truth.'</a:t>
            </a:r>
            <a:r>
              <a:rPr sz="1800">
                <a:solidFill>
                  <a:srgbClr val="3A3A3A"/>
                </a:solidFill>
                <a:latin typeface="Inter"/>
              </a:rPr>
              <a:t>  </a:t>
            </a:r>
          </a:p>
          <a:p>
            <a:pPr>
              <a:spcAft>
                <a:spcPts val="1000"/>
              </a:spcAft>
            </a:pPr>
            <a:r>
              <a:rPr sz="1800" b="1">
                <a:solidFill>
                  <a:srgbClr val="0F2D52"/>
                </a:solidFill>
                <a:latin typeface="Inter"/>
              </a:rPr>
              <a:t>• Human (push-back): 'Category lives on the NotificationRule. KIND_CATEGORY is for the preview page.'</a:t>
            </a:r>
            <a:r>
              <a:rPr sz="1800">
                <a:solidFill>
                  <a:srgbClr val="3A3A3A"/>
                </a:solidFill>
                <a:latin typeface="Inter"/>
              </a:rPr>
              <a:t>  </a:t>
            </a:r>
          </a:p>
          <a:p>
            <a:pPr>
              <a:spcAft>
                <a:spcPts val="1000"/>
              </a:spcAft>
            </a:pPr>
            <a:r>
              <a:rPr sz="1800" b="1">
                <a:solidFill>
                  <a:srgbClr val="0F2D52"/>
                </a:solidFill>
                <a:latin typeface="Inter"/>
              </a:rPr>
              <a:t>• Required a substantial refactor the agent would not have arrived at alone.</a:t>
            </a:r>
            <a:r>
              <a:rPr sz="1800">
                <a:solidFill>
                  <a:srgbClr val="3A3A3A"/>
                </a:solidFill>
                <a:latin typeface="Inter"/>
              </a:rPr>
              <a:t>  </a:t>
            </a:r>
          </a:p>
        </p:txBody>
      </p:sp>
      <p:sp>
        <p:nvSpPr>
          <p:cNvPr id="6" name="Rectangle 5"/>
          <p:cNvSpPr/>
          <p:nvPr/>
        </p:nvSpPr>
        <p:spPr>
          <a:xfrm>
            <a:off x="640080" y="4206240"/>
            <a:ext cx="10972800" cy="2286000"/>
          </a:xfrm>
          <a:prstGeom prst="rect">
            <a:avLst/>
          </a:prstGeom>
          <a:solidFill>
            <a:srgbClr val="FFFFFF"/>
          </a:solidFill>
          <a:ln w="15875">
            <a:solidFill>
              <a:srgbClr val="D96B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297680"/>
            <a:ext cx="10698480" cy="365760"/>
          </a:xfrm>
          <a:prstGeom prst="rect">
            <a:avLst/>
          </a:prstGeom>
          <a:noFill/>
        </p:spPr>
        <p:txBody>
          <a:bodyPr wrap="square" lIns="0" rIns="0" tIns="0" bIns="0">
            <a:spAutoFit/>
          </a:bodyPr>
          <a:lstStyle/>
          <a:p>
            <a:pPr algn="l"/>
            <a:r>
              <a:rPr sz="1400" b="1">
                <a:solidFill>
                  <a:srgbClr val="D96B0F"/>
                </a:solidFill>
                <a:latin typeface="Inter"/>
              </a:rPr>
              <a:t>Lesson</a:t>
            </a:r>
          </a:p>
        </p:txBody>
      </p:sp>
      <p:sp>
        <p:nvSpPr>
          <p:cNvPr id="8" name="TextBox 7"/>
          <p:cNvSpPr txBox="1"/>
          <p:nvPr/>
        </p:nvSpPr>
        <p:spPr>
          <a:xfrm>
            <a:off x="822960" y="4754880"/>
            <a:ext cx="10607040" cy="1645920"/>
          </a:xfrm>
          <a:prstGeom prst="rect">
            <a:avLst/>
          </a:prstGeom>
          <a:noFill/>
        </p:spPr>
        <p:txBody>
          <a:bodyPr wrap="square" lIns="0" rIns="0">
            <a:spAutoFit/>
          </a:bodyPr>
          <a:lstStyle/>
          <a:p>
            <a:pPr>
              <a:spcAft>
                <a:spcPts val="400"/>
              </a:spcAft>
            </a:pPr>
            <a:r>
              <a:rPr sz="1100">
                <a:solidFill>
                  <a:srgbClr val="3A3A3A"/>
                </a:solidFill>
                <a:latin typeface="Inter"/>
              </a:rPr>
              <a:t>• Agentic work compounds well WITHIN a model. The model needs the right premises to start.</a:t>
            </a:r>
          </a:p>
          <a:p>
            <a:pPr>
              <a:spcAft>
                <a:spcPts val="400"/>
              </a:spcAft>
            </a:pPr>
            <a:r>
              <a:rPr sz="1100">
                <a:solidFill>
                  <a:srgbClr val="3A3A3A"/>
                </a:solidFill>
                <a:latin typeface="Inter"/>
              </a:rPr>
              <a:t>• Pre-load institutional context explicitly at kickoff: 'X is the canonical source, not Y.'</a:t>
            </a:r>
          </a:p>
          <a:p>
            <a:pPr>
              <a:spcAft>
                <a:spcPts val="400"/>
              </a:spcAft>
            </a:pPr>
            <a:r>
              <a:rPr sz="1100">
                <a:solidFill>
                  <a:srgbClr val="3A3A3A"/>
                </a:solidFill>
                <a:latin typeface="Inter"/>
              </a:rPr>
              <a:t>• Reviewer's most valuable contribution is often a single sentence that flips a wrong premise.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Challenge 2 — The iidgen incident</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A correct rule existed. The agent never read it. 150 hand-crafted keys shipped.</a:t>
            </a:r>
          </a:p>
        </p:txBody>
      </p:sp>
      <p:sp>
        <p:nvSpPr>
          <p:cNvPr id="5" name="TextBox 4"/>
          <p:cNvSpPr txBox="1"/>
          <p:nvPr/>
        </p:nvSpPr>
        <p:spPr>
          <a:xfrm>
            <a:off x="640080" y="1463040"/>
            <a:ext cx="10972800" cy="1828800"/>
          </a:xfrm>
          <a:prstGeom prst="rect">
            <a:avLst/>
          </a:prstGeom>
          <a:noFill/>
        </p:spPr>
        <p:txBody>
          <a:bodyPr wrap="square" lIns="0" rIns="0">
            <a:spAutoFit/>
          </a:bodyPr>
          <a:lstStyle/>
          <a:p>
            <a:pPr>
              <a:spcAft>
                <a:spcPts val="800"/>
              </a:spcAft>
            </a:pPr>
            <a:r>
              <a:rPr sz="1700" b="1">
                <a:solidFill>
                  <a:srgbClr val="0F2D52"/>
                </a:solidFill>
                <a:latin typeface="Inter"/>
              </a:rPr>
              <a:t>• Stale globs:</a:t>
            </a:r>
            <a:r>
              <a:rPr sz="1700">
                <a:solidFill>
                  <a:srgbClr val="3A3A3A"/>
                </a:solidFill>
                <a:latin typeface="Inter"/>
              </a:rPr>
              <a:t>  rule's auto-attach paths pointed at directories renamed months earlier.</a:t>
            </a:r>
          </a:p>
          <a:p>
            <a:pPr>
              <a:spcAft>
                <a:spcPts val="800"/>
              </a:spcAft>
            </a:pPr>
            <a:r>
              <a:rPr sz="1700" b="1">
                <a:solidFill>
                  <a:srgbClr val="0F2D52"/>
                </a:solidFill>
                <a:latin typeface="Inter"/>
              </a:rPr>
              <a:t>• Repo-local skills invisible:</a:t>
            </a:r>
            <a:r>
              <a:rPr sz="1700">
                <a:solidFill>
                  <a:srgbClr val="3A3A3A"/>
                </a:solidFill>
                <a:latin typeface="Inter"/>
              </a:rPr>
              <a:t>  nutella/.cursor/skills/* not surfaced in &lt;available_skills&gt;.</a:t>
            </a:r>
          </a:p>
          <a:p>
            <a:pPr>
              <a:spcAft>
                <a:spcPts val="800"/>
              </a:spcAft>
            </a:pPr>
            <a:r>
              <a:rPr sz="1700" b="1">
                <a:solidFill>
                  <a:srgbClr val="0F2D52"/>
                </a:solidFill>
                <a:latin typeface="Inter"/>
              </a:rPr>
              <a:t>• Passive cross-references:</a:t>
            </a:r>
            <a:r>
              <a:rPr sz="1700">
                <a:solidFill>
                  <a:srgbClr val="3A3A3A"/>
                </a:solidFill>
                <a:latin typeface="Inter"/>
              </a:rPr>
              <a:t>  'see semantic-email-content.mdc' didn't make the agent read it.</a:t>
            </a:r>
          </a:p>
          <a:p>
            <a:pPr>
              <a:spcAft>
                <a:spcPts val="800"/>
              </a:spcAft>
            </a:pPr>
            <a:r>
              <a:rPr sz="1700" b="1">
                <a:solidFill>
                  <a:srgbClr val="0F2D52"/>
                </a:solidFill>
                <a:latin typeface="Inter"/>
              </a:rPr>
              <a:t>• Buried mandate:</a:t>
            </a:r>
            <a:r>
              <a:rPr sz="1700">
                <a:solidFill>
                  <a:srgbClr val="3A3A3A"/>
                </a:solidFill>
                <a:latin typeface="Inter"/>
              </a:rPr>
              <a:t>  iidgen requirement was Part 2 of a 4-part 230-line rule.</a:t>
            </a:r>
          </a:p>
        </p:txBody>
      </p:sp>
      <p:sp>
        <p:nvSpPr>
          <p:cNvPr id="6" name="Rectangle 5"/>
          <p:cNvSpPr/>
          <p:nvPr/>
        </p:nvSpPr>
        <p:spPr>
          <a:xfrm>
            <a:off x="640080" y="4114800"/>
            <a:ext cx="10972800" cy="2011680"/>
          </a:xfrm>
          <a:prstGeom prst="rect">
            <a:avLst/>
          </a:prstGeom>
          <a:solidFill>
            <a:srgbClr val="EEEEEE"/>
          </a:solidFill>
          <a:ln w="25400">
            <a:solidFill>
              <a:srgbClr val="B0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51960"/>
            <a:ext cx="10424160" cy="640080"/>
          </a:xfrm>
          <a:prstGeom prst="rect">
            <a:avLst/>
          </a:prstGeom>
          <a:noFill/>
        </p:spPr>
        <p:txBody>
          <a:bodyPr wrap="square" lIns="0" rIns="0" tIns="0" bIns="0">
            <a:spAutoFit/>
          </a:bodyPr>
          <a:lstStyle/>
          <a:p>
            <a:pPr algn="l"/>
            <a:r>
              <a:rPr sz="1500" b="0">
                <a:solidFill>
                  <a:srgbClr val="3A3A3A"/>
                </a:solidFill>
                <a:latin typeface="Inter"/>
              </a:rPr>
              <a:t>“When the runtime parser rejected aSbCt01 (length 7), the agent's first fix was to PAD</a:t>
            </a:r>
          </a:p>
        </p:txBody>
      </p:sp>
      <p:sp>
        <p:nvSpPr>
          <p:cNvPr id="8" name="TextBox 7"/>
          <p:cNvSpPr txBox="1"/>
          <p:nvPr/>
        </p:nvSpPr>
        <p:spPr>
          <a:xfrm>
            <a:off x="914400" y="4663440"/>
            <a:ext cx="10424160" cy="640080"/>
          </a:xfrm>
          <a:prstGeom prst="rect">
            <a:avLst/>
          </a:prstGeom>
          <a:noFill/>
        </p:spPr>
        <p:txBody>
          <a:bodyPr wrap="square" lIns="0" rIns="0" tIns="0" bIns="0">
            <a:spAutoFit/>
          </a:bodyPr>
          <a:lstStyle/>
          <a:p>
            <a:pPr algn="l"/>
            <a:r>
              <a:rPr sz="1500" b="0">
                <a:solidFill>
                  <a:srgbClr val="3A3A3A"/>
                </a:solidFill>
                <a:latin typeface="Inter"/>
              </a:rPr>
              <a:t>the key to aSbCt001 — preserving the hand-crafted descriptive naming. Only when the user asked</a:t>
            </a:r>
          </a:p>
        </p:txBody>
      </p:sp>
      <p:sp>
        <p:nvSpPr>
          <p:cNvPr id="9" name="TextBox 8"/>
          <p:cNvSpPr txBox="1"/>
          <p:nvPr/>
        </p:nvSpPr>
        <p:spPr>
          <a:xfrm>
            <a:off x="914400" y="5074920"/>
            <a:ext cx="10424160" cy="640080"/>
          </a:xfrm>
          <a:prstGeom prst="rect">
            <a:avLst/>
          </a:prstGeom>
          <a:noFill/>
        </p:spPr>
        <p:txBody>
          <a:bodyPr wrap="square" lIns="0" rIns="0" tIns="0" bIns="0">
            <a:spAutoFit/>
          </a:bodyPr>
          <a:lstStyle/>
          <a:p>
            <a:pPr algn="l"/>
            <a:r>
              <a:rPr sz="1500" b="0">
                <a:solidFill>
                  <a:srgbClr val="3A3A3A"/>
                </a:solidFill>
                <a:latin typeface="Inter"/>
              </a:rPr>
              <a:t>‘did you generate the key as mentioned in rules?’ did the agent admit it had not.”</a:t>
            </a:r>
          </a:p>
        </p:txBody>
      </p:sp>
      <p:sp>
        <p:nvSpPr>
          <p:cNvPr id="10" name="TextBox 9"/>
          <p:cNvSpPr txBox="1"/>
          <p:nvPr/>
        </p:nvSpPr>
        <p:spPr>
          <a:xfrm>
            <a:off x="914400" y="5623560"/>
            <a:ext cx="10424160" cy="457200"/>
          </a:xfrm>
          <a:prstGeom prst="rect">
            <a:avLst/>
          </a:prstGeom>
          <a:noFill/>
        </p:spPr>
        <p:txBody>
          <a:bodyPr wrap="square" lIns="0" rIns="0" tIns="0" bIns="0">
            <a:spAutoFit/>
          </a:bodyPr>
          <a:lstStyle/>
          <a:p>
            <a:pPr algn="l"/>
            <a:r>
              <a:rPr sz="1200" b="0">
                <a:solidFill>
                  <a:srgbClr val="3A3A3A"/>
                </a:solidFill>
                <a:latin typeface="Inter"/>
              </a:rPr>
              <a:t>— from docs/effective-cursor-rules-and-skills.md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Challenge 3 — Bug patterns agent-velocity surfaces</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Bugs that only appear when you ship 30 kinds in 9 days</a:t>
            </a:r>
          </a:p>
        </p:txBody>
      </p:sp>
      <p:sp>
        <p:nvSpPr>
          <p:cNvPr id="5" name="TextBox 4"/>
          <p:cNvSpPr txBox="1"/>
          <p:nvPr/>
        </p:nvSpPr>
        <p:spPr>
          <a:xfrm>
            <a:off x="640080" y="1463040"/>
            <a:ext cx="10972800" cy="365760"/>
          </a:xfrm>
          <a:prstGeom prst="rect">
            <a:avLst/>
          </a:prstGeom>
          <a:noFill/>
        </p:spPr>
        <p:txBody>
          <a:bodyPr wrap="square" lIns="0" rIns="0" tIns="0" bIns="0">
            <a:spAutoFit/>
          </a:bodyPr>
          <a:lstStyle/>
          <a:p>
            <a:pPr algn="l"/>
            <a:r>
              <a:rPr sz="1400" b="1">
                <a:solidFill>
                  <a:srgbClr val="B03636"/>
                </a:solidFill>
                <a:latin typeface="Inter"/>
              </a:rPr>
              <a:t>Padrino autoloader doesn't re-execute top-level blocks</a:t>
            </a:r>
          </a:p>
        </p:txBody>
      </p:sp>
      <p:sp>
        <p:nvSpPr>
          <p:cNvPr id="6" name="TextBox 5"/>
          <p:cNvSpPr txBox="1"/>
          <p:nvPr/>
        </p:nvSpPr>
        <p:spPr>
          <a:xfrm>
            <a:off x="640080" y="1828800"/>
            <a:ext cx="10972800" cy="365760"/>
          </a:xfrm>
          <a:prstGeom prst="rect">
            <a:avLst/>
          </a:prstGeom>
          <a:noFill/>
        </p:spPr>
        <p:txBody>
          <a:bodyPr wrap="square" lIns="0" rIns="0" tIns="0" bIns="0">
            <a:spAutoFit/>
          </a:bodyPr>
          <a:lstStyle/>
          <a:p>
            <a:pPr algn="l"/>
            <a:r>
              <a:rPr sz="1200" b="0">
                <a:solidFill>
                  <a:srgbClr val="3A3A3A"/>
                </a:solidFill>
                <a:latin typeface="Inter"/>
              </a:rPr>
              <a:t>Pattern E (method-body) reloads; Pattern E (lambda-body inside each block) silently doesn't.</a:t>
            </a:r>
          </a:p>
        </p:txBody>
      </p:sp>
      <p:sp>
        <p:nvSpPr>
          <p:cNvPr id="7" name="TextBox 6"/>
          <p:cNvSpPr txBox="1"/>
          <p:nvPr/>
        </p:nvSpPr>
        <p:spPr>
          <a:xfrm>
            <a:off x="640080" y="2194560"/>
            <a:ext cx="10972800" cy="365760"/>
          </a:xfrm>
          <a:prstGeom prst="rect">
            <a:avLst/>
          </a:prstGeom>
          <a:noFill/>
        </p:spPr>
        <p:txBody>
          <a:bodyPr wrap="square" lIns="0" rIns="0" tIns="0" bIns="0">
            <a:spAutoFit/>
          </a:bodyPr>
          <a:lstStyle/>
          <a:p>
            <a:pPr algn="l"/>
            <a:r>
              <a:rPr sz="1100" b="1">
                <a:solidFill>
                  <a:srgbClr val="D96B0F"/>
                </a:solidFill>
                <a:latin typeface="Inter"/>
              </a:rPr>
              <a:t>Impact:  Hours of 'fix isn't taking effect' debugging.</a:t>
            </a:r>
          </a:p>
        </p:txBody>
      </p:sp>
      <p:sp>
        <p:nvSpPr>
          <p:cNvPr id="8" name="TextBox 7"/>
          <p:cNvSpPr txBox="1"/>
          <p:nvPr/>
        </p:nvSpPr>
        <p:spPr>
          <a:xfrm>
            <a:off x="640080" y="2423160"/>
            <a:ext cx="10972800" cy="365760"/>
          </a:xfrm>
          <a:prstGeom prst="rect">
            <a:avLst/>
          </a:prstGeom>
          <a:noFill/>
        </p:spPr>
        <p:txBody>
          <a:bodyPr wrap="square" lIns="0" rIns="0" tIns="0" bIns="0">
            <a:spAutoFit/>
          </a:bodyPr>
          <a:lstStyle/>
          <a:p>
            <a:pPr algn="l"/>
            <a:r>
              <a:rPr sz="1400" b="1">
                <a:solidFill>
                  <a:srgbClr val="B03636"/>
                </a:solidFill>
                <a:latin typeface="Inter"/>
              </a:rPr>
              <a:t>Ruby extend mixes methods, not constants</a:t>
            </a:r>
          </a:p>
        </p:txBody>
      </p:sp>
      <p:sp>
        <p:nvSpPr>
          <p:cNvPr id="9" name="TextBox 8"/>
          <p:cNvSpPr txBox="1"/>
          <p:nvPr/>
        </p:nvSpPr>
        <p:spPr>
          <a:xfrm>
            <a:off x="640080" y="2788920"/>
            <a:ext cx="10972800" cy="365760"/>
          </a:xfrm>
          <a:prstGeom prst="rect">
            <a:avLst/>
          </a:prstGeom>
          <a:noFill/>
        </p:spPr>
        <p:txBody>
          <a:bodyPr wrap="square" lIns="0" rIns="0" tIns="0" bIns="0">
            <a:spAutoFit/>
          </a:bodyPr>
          <a:lstStyle/>
          <a:p>
            <a:pPr algn="l"/>
            <a:r>
              <a:rPr sz="1200" b="0">
                <a:solidFill>
                  <a:srgbClr val="3A3A3A"/>
                </a:solidFill>
                <a:latin typeface="Inter"/>
              </a:rPr>
              <a:t>share_builder.rb's unqualified THUMBNAIL_WIDTH raised NameError only when non-nil URL passed.</a:t>
            </a:r>
          </a:p>
        </p:txBody>
      </p:sp>
      <p:sp>
        <p:nvSpPr>
          <p:cNvPr id="10" name="TextBox 9"/>
          <p:cNvSpPr txBox="1"/>
          <p:nvPr/>
        </p:nvSpPr>
        <p:spPr>
          <a:xfrm>
            <a:off x="640080" y="3154680"/>
            <a:ext cx="10972800" cy="365760"/>
          </a:xfrm>
          <a:prstGeom prst="rect">
            <a:avLst/>
          </a:prstGeom>
          <a:noFill/>
        </p:spPr>
        <p:txBody>
          <a:bodyPr wrap="square" lIns="0" rIns="0" tIns="0" bIns="0">
            <a:spAutoFit/>
          </a:bodyPr>
          <a:lstStyle/>
          <a:p>
            <a:pPr algn="l"/>
            <a:r>
              <a:rPr sz="1100" b="1">
                <a:solidFill>
                  <a:srgbClr val="D96B0F"/>
                </a:solidFill>
                <a:latin typeface="Inter"/>
              </a:rPr>
              <a:t>Impact:  Preview ran 'fine' for weeks — nil short-circuit hid the bug.</a:t>
            </a:r>
          </a:p>
        </p:txBody>
      </p:sp>
      <p:sp>
        <p:nvSpPr>
          <p:cNvPr id="11" name="TextBox 10"/>
          <p:cNvSpPr txBox="1"/>
          <p:nvPr/>
        </p:nvSpPr>
        <p:spPr>
          <a:xfrm>
            <a:off x="640080" y="3383280"/>
            <a:ext cx="10972800" cy="365760"/>
          </a:xfrm>
          <a:prstGeom prst="rect">
            <a:avLst/>
          </a:prstGeom>
          <a:noFill/>
        </p:spPr>
        <p:txBody>
          <a:bodyPr wrap="square" lIns="0" rIns="0" tIns="0" bIns="0">
            <a:spAutoFit/>
          </a:bodyPr>
          <a:lstStyle/>
          <a:p>
            <a:pPr algn="l"/>
            <a:r>
              <a:rPr sz="1400" b="1">
                <a:solidFill>
                  <a:srgbClr val="B03636"/>
                </a:solidFill>
                <a:latin typeface="Inter"/>
              </a:rPr>
              <a:t>AlertPresenter#data_value_to_output silent-drop on nil id</a:t>
            </a:r>
          </a:p>
        </p:txBody>
      </p:sp>
      <p:sp>
        <p:nvSpPr>
          <p:cNvPr id="12" name="TextBox 11"/>
          <p:cNvSpPr txBox="1"/>
          <p:nvPr/>
        </p:nvSpPr>
        <p:spPr>
          <a:xfrm>
            <a:off x="640080" y="3749040"/>
            <a:ext cx="10972800" cy="365760"/>
          </a:xfrm>
          <a:prstGeom prst="rect">
            <a:avLst/>
          </a:prstGeom>
          <a:noFill/>
        </p:spPr>
        <p:txBody>
          <a:bodyPr wrap="square" lIns="0" rIns="0" tIns="0" bIns="0">
            <a:spAutoFit/>
          </a:bodyPr>
          <a:lstStyle/>
          <a:p>
            <a:pPr algn="l"/>
            <a:r>
              <a:rPr sz="1200" b="0">
                <a:solidFill>
                  <a:srgbClr val="3A3A3A"/>
                </a:solidFill>
                <a:latin typeface="Inter"/>
              </a:rPr>
              <a:t>Mock dicts with {title, url} but no {type, id} produce {} — entity gone, no test failure.</a:t>
            </a:r>
          </a:p>
        </p:txBody>
      </p:sp>
      <p:sp>
        <p:nvSpPr>
          <p:cNvPr id="13" name="TextBox 12"/>
          <p:cNvSpPr txBox="1"/>
          <p:nvPr/>
        </p:nvSpPr>
        <p:spPr>
          <a:xfrm>
            <a:off x="640080" y="4114800"/>
            <a:ext cx="10972800" cy="365760"/>
          </a:xfrm>
          <a:prstGeom prst="rect">
            <a:avLst/>
          </a:prstGeom>
          <a:noFill/>
        </p:spPr>
        <p:txBody>
          <a:bodyPr wrap="square" lIns="0" rIns="0" tIns="0" bIns="0">
            <a:spAutoFit/>
          </a:bodyPr>
          <a:lstStyle/>
          <a:p>
            <a:pPr algn="l"/>
            <a:r>
              <a:rPr sz="1100" b="1">
                <a:solidFill>
                  <a:srgbClr val="D96B0F"/>
                </a:solidFill>
                <a:latin typeface="Inter"/>
              </a:rPr>
              <a:t>Impact:  Only diagnostic was an EventLogger.error in server.out.</a:t>
            </a:r>
          </a:p>
        </p:txBody>
      </p:sp>
      <p:sp>
        <p:nvSpPr>
          <p:cNvPr id="14" name="TextBox 13"/>
          <p:cNvSpPr txBox="1"/>
          <p:nvPr/>
        </p:nvSpPr>
        <p:spPr>
          <a:xfrm>
            <a:off x="640080" y="4343400"/>
            <a:ext cx="10972800" cy="365760"/>
          </a:xfrm>
          <a:prstGeom prst="rect">
            <a:avLst/>
          </a:prstGeom>
          <a:noFill/>
        </p:spPr>
        <p:txBody>
          <a:bodyPr wrap="square" lIns="0" rIns="0" tIns="0" bIns="0">
            <a:spAutoFit/>
          </a:bodyPr>
          <a:lstStyle/>
          <a:p>
            <a:pPr algn="l"/>
            <a:r>
              <a:rPr sz="1400" b="1">
                <a:solidFill>
                  <a:srgbClr val="B03636"/>
                </a:solidFill>
                <a:latin typeface="Inter"/>
              </a:rPr>
              <a:t>Production data-shape asymmetry (lesson_progress_reset)</a:t>
            </a:r>
          </a:p>
        </p:txBody>
      </p:sp>
      <p:sp>
        <p:nvSpPr>
          <p:cNvPr id="15" name="TextBox 14"/>
          <p:cNvSpPr txBox="1"/>
          <p:nvPr/>
        </p:nvSpPr>
        <p:spPr>
          <a:xfrm>
            <a:off x="640080" y="4709160"/>
            <a:ext cx="10972800" cy="365760"/>
          </a:xfrm>
          <a:prstGeom prst="rect">
            <a:avLst/>
          </a:prstGeom>
          <a:noFill/>
        </p:spPr>
        <p:txBody>
          <a:bodyPr wrap="square" lIns="0" rIns="0" tIns="0" bIns="0">
            <a:spAutoFit/>
          </a:bodyPr>
          <a:lstStyle/>
          <a:p>
            <a:pPr algn="l"/>
            <a:r>
              <a:rPr sz="1200" b="0">
                <a:solidFill>
                  <a:srgbClr val="3A3A3A"/>
                </a:solidFill>
                <a:latin typeface="Inter"/>
              </a:rPr>
              <a:t>:item / :assigned_item REVERSED only for this kind. Legacy interpolated by key; semantic reads positionally.</a:t>
            </a:r>
          </a:p>
        </p:txBody>
      </p:sp>
      <p:sp>
        <p:nvSpPr>
          <p:cNvPr id="16" name="TextBox 15"/>
          <p:cNvSpPr txBox="1"/>
          <p:nvPr/>
        </p:nvSpPr>
        <p:spPr>
          <a:xfrm>
            <a:off x="640080" y="5074920"/>
            <a:ext cx="10972800" cy="365760"/>
          </a:xfrm>
          <a:prstGeom prst="rect">
            <a:avLst/>
          </a:prstGeom>
          <a:noFill/>
        </p:spPr>
        <p:txBody>
          <a:bodyPr wrap="square" lIns="0" rIns="0" tIns="0" bIns="0">
            <a:spAutoFit/>
          </a:bodyPr>
          <a:lstStyle/>
          <a:p>
            <a:pPr algn="l"/>
            <a:r>
              <a:rPr sz="1100" b="1">
                <a:solidFill>
                  <a:srgbClr val="D96B0F"/>
                </a:solidFill>
                <a:latin typeface="Inter"/>
              </a:rPr>
              <a:t>Impact:  Production semantic emails for this kind shipped wrong title since first migration.</a:t>
            </a:r>
          </a:p>
        </p:txBody>
      </p:sp>
      <p:sp>
        <p:nvSpPr>
          <p:cNvPr id="17" name="TextBox 16"/>
          <p:cNvSpPr txBox="1"/>
          <p:nvPr/>
        </p:nvSpPr>
        <p:spPr>
          <a:xfrm>
            <a:off x="640080" y="5303520"/>
            <a:ext cx="10972800" cy="365760"/>
          </a:xfrm>
          <a:prstGeom prst="rect">
            <a:avLst/>
          </a:prstGeom>
          <a:noFill/>
        </p:spPr>
        <p:txBody>
          <a:bodyPr wrap="square" lIns="0" rIns="0" tIns="0" bIns="0">
            <a:spAutoFit/>
          </a:bodyPr>
          <a:lstStyle/>
          <a:p>
            <a:pPr algn="l"/>
            <a:r>
              <a:rPr sz="1400" b="1">
                <a:solidFill>
                  <a:srgbClr val="B03636"/>
                </a:solidFill>
                <a:latin typeface="Inter"/>
              </a:rPr>
              <a:t>Subagents inherit stale rules</a:t>
            </a:r>
          </a:p>
        </p:txBody>
      </p:sp>
      <p:sp>
        <p:nvSpPr>
          <p:cNvPr id="18" name="TextBox 17"/>
          <p:cNvSpPr txBox="1"/>
          <p:nvPr/>
        </p:nvSpPr>
        <p:spPr>
          <a:xfrm>
            <a:off x="640080" y="5669280"/>
            <a:ext cx="10972800" cy="365760"/>
          </a:xfrm>
          <a:prstGeom prst="rect">
            <a:avLst/>
          </a:prstGeom>
          <a:noFill/>
        </p:spPr>
        <p:txBody>
          <a:bodyPr wrap="square" lIns="0" rIns="0" tIns="0" bIns="0">
            <a:spAutoFit/>
          </a:bodyPr>
          <a:lstStyle/>
          <a:p>
            <a:pPr algn="l"/>
            <a:r>
              <a:rPr sz="1200" b="0">
                <a:solidFill>
                  <a:srgbClr val="3A3A3A"/>
                </a:solidFill>
                <a:latin typeface="Inter"/>
              </a:rPr>
              <a:t>7 fragmented worklog commits pushed by subagents that bypassed the new AskQuestion gate.</a:t>
            </a:r>
          </a:p>
        </p:txBody>
      </p:sp>
      <p:sp>
        <p:nvSpPr>
          <p:cNvPr id="19" name="TextBox 18"/>
          <p:cNvSpPr txBox="1"/>
          <p:nvPr/>
        </p:nvSpPr>
        <p:spPr>
          <a:xfrm>
            <a:off x="640080" y="6035040"/>
            <a:ext cx="10972800" cy="365760"/>
          </a:xfrm>
          <a:prstGeom prst="rect">
            <a:avLst/>
          </a:prstGeom>
          <a:noFill/>
        </p:spPr>
        <p:txBody>
          <a:bodyPr wrap="square" lIns="0" rIns="0" tIns="0" bIns="0">
            <a:spAutoFit/>
          </a:bodyPr>
          <a:lstStyle/>
          <a:p>
            <a:pPr algn="l"/>
            <a:r>
              <a:rPr sz="1100" b="1">
                <a:solidFill>
                  <a:srgbClr val="D96B0F"/>
                </a:solidFill>
                <a:latin typeface="Inter"/>
              </a:rPr>
              <a:t>Impact:  Even agent-of-agent has rule-propagation problems.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Challenge 4 — The over-fix instinct</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Agent's first fix is often the expensive one</a:t>
            </a:r>
          </a:p>
        </p:txBody>
      </p:sp>
      <p:sp>
        <p:nvSpPr>
          <p:cNvPr id="5" name="TextBox 4"/>
          <p:cNvSpPr txBox="1"/>
          <p:nvPr/>
        </p:nvSpPr>
        <p:spPr>
          <a:xfrm>
            <a:off x="640080" y="1371600"/>
            <a:ext cx="5303520" cy="365760"/>
          </a:xfrm>
          <a:prstGeom prst="rect">
            <a:avLst/>
          </a:prstGeom>
          <a:noFill/>
        </p:spPr>
        <p:txBody>
          <a:bodyPr wrap="square" lIns="0" rIns="0" tIns="0" bIns="0">
            <a:spAutoFit/>
          </a:bodyPr>
          <a:lstStyle/>
          <a:p>
            <a:pPr algn="ctr"/>
            <a:r>
              <a:rPr sz="1800" b="1">
                <a:solidFill>
                  <a:srgbClr val="B03636"/>
                </a:solidFill>
                <a:latin typeface="Inter"/>
              </a:rPr>
              <a:t>Agent's first instinct</a:t>
            </a:r>
          </a:p>
        </p:txBody>
      </p:sp>
      <p:sp>
        <p:nvSpPr>
          <p:cNvPr id="6" name="TextBox 5"/>
          <p:cNvSpPr txBox="1"/>
          <p:nvPr/>
        </p:nvSpPr>
        <p:spPr>
          <a:xfrm>
            <a:off x="6309360" y="1371600"/>
            <a:ext cx="5303520" cy="365760"/>
          </a:xfrm>
          <a:prstGeom prst="rect">
            <a:avLst/>
          </a:prstGeom>
          <a:noFill/>
        </p:spPr>
        <p:txBody>
          <a:bodyPr wrap="square" lIns="0" rIns="0" tIns="0" bIns="0">
            <a:spAutoFit/>
          </a:bodyPr>
          <a:lstStyle/>
          <a:p>
            <a:pPr algn="ctr"/>
            <a:r>
              <a:rPr sz="1800" b="1">
                <a:solidFill>
                  <a:srgbClr val="2C7A3C"/>
                </a:solidFill>
                <a:latin typeface="Inter"/>
              </a:rPr>
              <a:t>What the human asked</a:t>
            </a:r>
          </a:p>
        </p:txBody>
      </p:sp>
      <p:sp>
        <p:nvSpPr>
          <p:cNvPr id="7" name="Rectangle 6"/>
          <p:cNvSpPr/>
          <p:nvPr/>
        </p:nvSpPr>
        <p:spPr>
          <a:xfrm>
            <a:off x="640080" y="1828800"/>
            <a:ext cx="5303520" cy="1371600"/>
          </a:xfrm>
          <a:prstGeom prst="rect">
            <a:avLst/>
          </a:prstGeom>
          <a:solidFill>
            <a:srgbClr val="FFFFFF"/>
          </a:solidFill>
          <a:ln w="15875">
            <a:solidFill>
              <a:srgbClr val="B0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20240"/>
            <a:ext cx="5029200" cy="365760"/>
          </a:xfrm>
          <a:prstGeom prst="rect">
            <a:avLst/>
          </a:prstGeom>
          <a:noFill/>
        </p:spPr>
        <p:txBody>
          <a:bodyPr wrap="square" lIns="0" rIns="0" tIns="0" bIns="0">
            <a:spAutoFit/>
          </a:bodyPr>
          <a:lstStyle/>
          <a:p>
            <a:pPr algn="l"/>
            <a:r>
              <a:rPr sz="1400" b="1">
                <a:solidFill>
                  <a:srgbClr val="B03636"/>
                </a:solidFill>
                <a:latin typeface="Inter"/>
              </a:rPr>
              <a:t>iidgen incident</a:t>
            </a:r>
          </a:p>
        </p:txBody>
      </p:sp>
      <p:sp>
        <p:nvSpPr>
          <p:cNvPr id="9" name="TextBox 8"/>
          <p:cNvSpPr txBox="1"/>
          <p:nvPr/>
        </p:nvSpPr>
        <p:spPr>
          <a:xfrm>
            <a:off x="822960" y="2377440"/>
            <a:ext cx="4937760" cy="731520"/>
          </a:xfrm>
          <a:prstGeom prst="rect">
            <a:avLst/>
          </a:prstGeom>
          <a:noFill/>
        </p:spPr>
        <p:txBody>
          <a:bodyPr wrap="square" lIns="0" rIns="0">
            <a:spAutoFit/>
          </a:bodyPr>
          <a:lstStyle/>
          <a:p>
            <a:pPr>
              <a:spcAft>
                <a:spcPts val="400"/>
              </a:spcAft>
            </a:pPr>
            <a:r>
              <a:rPr sz="1100">
                <a:solidFill>
                  <a:srgbClr val="3A3A3A"/>
                </a:solidFill>
                <a:latin typeface="Inter"/>
              </a:rPr>
              <a:t>• Pad aSbCt01 → aSbCt001 to clear length check.</a:t>
            </a:r>
          </a:p>
          <a:p>
            <a:pPr>
              <a:spcAft>
                <a:spcPts val="400"/>
              </a:spcAft>
            </a:pPr>
            <a:r>
              <a:rPr sz="1100">
                <a:solidFill>
                  <a:srgbClr val="3A3A3A"/>
                </a:solidFill>
                <a:latin typeface="Inter"/>
              </a:rPr>
              <a:t>• Preserves hand-crafted descriptive naming.</a:t>
            </a:r>
          </a:p>
          <a:p>
            <a:pPr>
              <a:spcAft>
                <a:spcPts val="400"/>
              </a:spcAft>
            </a:pPr>
            <a:r>
              <a:rPr sz="1100">
                <a:solidFill>
                  <a:srgbClr val="3A3A3A"/>
                </a:solidFill>
                <a:latin typeface="Inter"/>
              </a:rPr>
              <a:t>• Rule still violated. Doubles down.</a:t>
            </a:r>
          </a:p>
        </p:txBody>
      </p:sp>
      <p:sp>
        <p:nvSpPr>
          <p:cNvPr id="10" name="Rectangle 9"/>
          <p:cNvSpPr/>
          <p:nvPr/>
        </p:nvSpPr>
        <p:spPr>
          <a:xfrm>
            <a:off x="6309360" y="1828800"/>
            <a:ext cx="5303520" cy="1371600"/>
          </a:xfrm>
          <a:prstGeom prst="rect">
            <a:avLst/>
          </a:prstGeom>
          <a:solidFill>
            <a:srgbClr val="FFFFFF"/>
          </a:solidFill>
          <a:ln w="15875">
            <a:solidFill>
              <a:srgbClr val="2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5029200" cy="365760"/>
          </a:xfrm>
          <a:prstGeom prst="rect">
            <a:avLst/>
          </a:prstGeom>
          <a:noFill/>
        </p:spPr>
        <p:txBody>
          <a:bodyPr wrap="square" lIns="0" rIns="0" tIns="0" bIns="0">
            <a:spAutoFit/>
          </a:bodyPr>
          <a:lstStyle/>
          <a:p>
            <a:pPr algn="l"/>
            <a:r>
              <a:rPr sz="1400" b="1">
                <a:solidFill>
                  <a:srgbClr val="2C7A3C"/>
                </a:solidFill>
                <a:latin typeface="Inter"/>
              </a:rPr>
              <a:t>What the human asked</a:t>
            </a:r>
          </a:p>
        </p:txBody>
      </p:sp>
      <p:sp>
        <p:nvSpPr>
          <p:cNvPr id="12" name="TextBox 11"/>
          <p:cNvSpPr txBox="1"/>
          <p:nvPr/>
        </p:nvSpPr>
        <p:spPr>
          <a:xfrm>
            <a:off x="6492240" y="2377440"/>
            <a:ext cx="4937760" cy="731520"/>
          </a:xfrm>
          <a:prstGeom prst="rect">
            <a:avLst/>
          </a:prstGeom>
          <a:noFill/>
        </p:spPr>
        <p:txBody>
          <a:bodyPr wrap="square" lIns="0" rIns="0">
            <a:spAutoFit/>
          </a:bodyPr>
          <a:lstStyle/>
          <a:p>
            <a:pPr>
              <a:spcAft>
                <a:spcPts val="400"/>
              </a:spcAft>
            </a:pPr>
            <a:r>
              <a:rPr sz="1100">
                <a:solidFill>
                  <a:srgbClr val="3A3A3A"/>
                </a:solidFill>
                <a:latin typeface="Inter"/>
              </a:rPr>
              <a:t>• 'Did you generate the key as mentioned in rules?'</a:t>
            </a:r>
          </a:p>
          <a:p>
            <a:pPr>
              <a:spcAft>
                <a:spcPts val="400"/>
              </a:spcAft>
            </a:pPr>
            <a:r>
              <a:rPr sz="1100">
                <a:solidFill>
                  <a:srgbClr val="3A3A3A"/>
                </a:solidFill>
                <a:latin typeface="Inter"/>
              </a:rPr>
              <a:t>• Triggers regeneration of all 149 keys via iidgen.</a:t>
            </a:r>
          </a:p>
          <a:p>
            <a:pPr>
              <a:spcAft>
                <a:spcPts val="400"/>
              </a:spcAft>
            </a:pPr>
            <a:r>
              <a:rPr sz="1100">
                <a:solidFill>
                  <a:srgbClr val="3A3A3A"/>
                </a:solidFill>
                <a:latin typeface="Inter"/>
              </a:rPr>
              <a:t>• Single sentence. Cheap. Correct.</a:t>
            </a:r>
          </a:p>
        </p:txBody>
      </p:sp>
      <p:sp>
        <p:nvSpPr>
          <p:cNvPr id="13" name="Rectangle 12"/>
          <p:cNvSpPr/>
          <p:nvPr/>
        </p:nvSpPr>
        <p:spPr>
          <a:xfrm>
            <a:off x="640080" y="3383280"/>
            <a:ext cx="5303520" cy="1371600"/>
          </a:xfrm>
          <a:prstGeom prst="rect">
            <a:avLst/>
          </a:prstGeom>
          <a:solidFill>
            <a:srgbClr val="FFFFFF"/>
          </a:solidFill>
          <a:ln w="15875">
            <a:solidFill>
              <a:srgbClr val="B0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74720"/>
            <a:ext cx="5029200" cy="365760"/>
          </a:xfrm>
          <a:prstGeom prst="rect">
            <a:avLst/>
          </a:prstGeom>
          <a:noFill/>
        </p:spPr>
        <p:txBody>
          <a:bodyPr wrap="square" lIns="0" rIns="0" tIns="0" bIns="0">
            <a:spAutoFit/>
          </a:bodyPr>
          <a:lstStyle/>
          <a:p>
            <a:pPr algn="l"/>
            <a:r>
              <a:rPr sz="1400" b="1">
                <a:solidFill>
                  <a:srgbClr val="B03636"/>
                </a:solidFill>
                <a:latin typeface="Inter"/>
              </a:rPr>
              <a:t>LD admin REST vs SDK conflation</a:t>
            </a:r>
          </a:p>
        </p:txBody>
      </p:sp>
      <p:sp>
        <p:nvSpPr>
          <p:cNvPr id="15" name="TextBox 14"/>
          <p:cNvSpPr txBox="1"/>
          <p:nvPr/>
        </p:nvSpPr>
        <p:spPr>
          <a:xfrm>
            <a:off x="822960" y="3931920"/>
            <a:ext cx="4937760" cy="731520"/>
          </a:xfrm>
          <a:prstGeom prst="rect">
            <a:avLst/>
          </a:prstGeom>
          <a:noFill/>
        </p:spPr>
        <p:txBody>
          <a:bodyPr wrap="square" lIns="0" rIns="0">
            <a:spAutoFit/>
          </a:bodyPr>
          <a:lstStyle/>
          <a:p>
            <a:pPr>
              <a:spcAft>
                <a:spcPts val="400"/>
              </a:spcAft>
            </a:pPr>
            <a:r>
              <a:rPr sz="1100">
                <a:solidFill>
                  <a:srgbClr val="3A3A3A"/>
                </a:solidFill>
                <a:latin typeface="Inter"/>
              </a:rPr>
              <a:t>• Built new get_launchdarkly_flag_details tool.</a:t>
            </a:r>
          </a:p>
          <a:p>
            <a:pPr>
              <a:spcAft>
                <a:spcPts val="400"/>
              </a:spcAft>
            </a:pPr>
            <a:r>
              <a:rPr sz="1100">
                <a:solidFill>
                  <a:srgbClr val="3A3A3A"/>
                </a:solidFill>
                <a:latin typeface="Inter"/>
              </a:rPr>
              <a:t>• Admin token, more permissions, more attack surface.</a:t>
            </a:r>
          </a:p>
          <a:p>
            <a:pPr>
              <a:spcAft>
                <a:spcPts val="400"/>
              </a:spcAft>
            </a:pPr>
            <a:r>
              <a:rPr sz="1100">
                <a:solidFill>
                  <a:srgbClr val="3A3A3A"/>
                </a:solidFill>
                <a:latin typeface="Inter"/>
              </a:rPr>
              <a:t>• Implies the SDK can't answer 'why?' questions.</a:t>
            </a:r>
          </a:p>
        </p:txBody>
      </p:sp>
      <p:sp>
        <p:nvSpPr>
          <p:cNvPr id="16" name="Rectangle 15"/>
          <p:cNvSpPr/>
          <p:nvPr/>
        </p:nvSpPr>
        <p:spPr>
          <a:xfrm>
            <a:off x="6309360" y="3383280"/>
            <a:ext cx="5303520" cy="1371600"/>
          </a:xfrm>
          <a:prstGeom prst="rect">
            <a:avLst/>
          </a:prstGeom>
          <a:solidFill>
            <a:srgbClr val="FFFFFF"/>
          </a:solidFill>
          <a:ln w="15875">
            <a:solidFill>
              <a:srgbClr val="2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474720"/>
            <a:ext cx="5029200" cy="365760"/>
          </a:xfrm>
          <a:prstGeom prst="rect">
            <a:avLst/>
          </a:prstGeom>
          <a:noFill/>
        </p:spPr>
        <p:txBody>
          <a:bodyPr wrap="square" lIns="0" rIns="0" tIns="0" bIns="0">
            <a:spAutoFit/>
          </a:bodyPr>
          <a:lstStyle/>
          <a:p>
            <a:pPr algn="l"/>
            <a:r>
              <a:rPr sz="1400" b="1">
                <a:solidFill>
                  <a:srgbClr val="2C7A3C"/>
                </a:solidFill>
                <a:latin typeface="Inter"/>
              </a:rPr>
              <a:t>What the human asked</a:t>
            </a:r>
          </a:p>
        </p:txBody>
      </p:sp>
      <p:sp>
        <p:nvSpPr>
          <p:cNvPr id="18" name="TextBox 17"/>
          <p:cNvSpPr txBox="1"/>
          <p:nvPr/>
        </p:nvSpPr>
        <p:spPr>
          <a:xfrm>
            <a:off x="6492240" y="3931920"/>
            <a:ext cx="4937760" cy="731520"/>
          </a:xfrm>
          <a:prstGeom prst="rect">
            <a:avLst/>
          </a:prstGeom>
          <a:noFill/>
        </p:spPr>
        <p:txBody>
          <a:bodyPr wrap="square" lIns="0" rIns="0">
            <a:spAutoFit/>
          </a:bodyPr>
          <a:lstStyle/>
          <a:p>
            <a:pPr>
              <a:spcAft>
                <a:spcPts val="400"/>
              </a:spcAft>
            </a:pPr>
            <a:r>
              <a:rPr sz="1100">
                <a:solidFill>
                  <a:srgbClr val="3A3A3A"/>
                </a:solidFill>
                <a:latin typeface="Inter"/>
              </a:rPr>
              <a:t>• 'Why can't Path B take Path A's approach?'</a:t>
            </a:r>
          </a:p>
          <a:p>
            <a:pPr>
              <a:spcAft>
                <a:spcPts val="400"/>
              </a:spcAft>
            </a:pPr>
            <a:r>
              <a:rPr sz="1100">
                <a:solidFill>
                  <a:srgbClr val="3A3A3A"/>
                </a:solidFill>
                <a:latin typeface="Inter"/>
              </a:rPr>
              <a:t>• Surfaces that LDClient#variation_detail already gives EvaluationReason.</a:t>
            </a:r>
          </a:p>
          <a:p>
            <a:pPr>
              <a:spcAft>
                <a:spcPts val="400"/>
              </a:spcAft>
            </a:pPr>
            <a:r>
              <a:rPr sz="1100">
                <a:solidFill>
                  <a:srgbClr val="3A3A3A"/>
                </a:solidFill>
                <a:latin typeface="Inter"/>
              </a:rPr>
              <a:t>• Cheaper SDK path is the new default.</a:t>
            </a:r>
          </a:p>
        </p:txBody>
      </p:sp>
      <p:sp>
        <p:nvSpPr>
          <p:cNvPr id="19" name="Rectangle 18"/>
          <p:cNvSpPr/>
          <p:nvPr/>
        </p:nvSpPr>
        <p:spPr>
          <a:xfrm>
            <a:off x="640080" y="4937760"/>
            <a:ext cx="5303520" cy="1371600"/>
          </a:xfrm>
          <a:prstGeom prst="rect">
            <a:avLst/>
          </a:prstGeom>
          <a:solidFill>
            <a:srgbClr val="FFFFFF"/>
          </a:solidFill>
          <a:ln w="15875">
            <a:solidFill>
              <a:srgbClr val="B0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029200"/>
            <a:ext cx="5029200" cy="365760"/>
          </a:xfrm>
          <a:prstGeom prst="rect">
            <a:avLst/>
          </a:prstGeom>
          <a:noFill/>
        </p:spPr>
        <p:txBody>
          <a:bodyPr wrap="square" lIns="0" rIns="0" tIns="0" bIns="0">
            <a:spAutoFit/>
          </a:bodyPr>
          <a:lstStyle/>
          <a:p>
            <a:pPr algn="l"/>
            <a:r>
              <a:rPr sz="1400" b="1">
                <a:solidFill>
                  <a:srgbClr val="B03636"/>
                </a:solidFill>
                <a:latin typeface="Inter"/>
              </a:rPr>
              <a:t>Production gating diagnostic</a:t>
            </a:r>
          </a:p>
        </p:txBody>
      </p:sp>
      <p:sp>
        <p:nvSpPr>
          <p:cNvPr id="21" name="TextBox 20"/>
          <p:cNvSpPr txBox="1"/>
          <p:nvPr/>
        </p:nvSpPr>
        <p:spPr>
          <a:xfrm>
            <a:off x="822960" y="5486400"/>
            <a:ext cx="4937760" cy="731520"/>
          </a:xfrm>
          <a:prstGeom prst="rect">
            <a:avLst/>
          </a:prstGeom>
          <a:noFill/>
        </p:spPr>
        <p:txBody>
          <a:bodyPr wrap="square" lIns="0" rIns="0">
            <a:spAutoFit/>
          </a:bodyPr>
          <a:lstStyle/>
          <a:p>
            <a:pPr>
              <a:spcAft>
                <a:spcPts val="400"/>
              </a:spcAft>
            </a:pPr>
            <a:r>
              <a:rPr sz="1100">
                <a:solidFill>
                  <a:srgbClr val="3A3A3A"/>
                </a:solidFill>
                <a:latin typeface="Inter"/>
              </a:rPr>
              <a:t>• Earlier today: agent proposed a 'decision struct'.</a:t>
            </a:r>
          </a:p>
          <a:p>
            <a:pPr>
              <a:spcAft>
                <a:spcPts val="400"/>
              </a:spcAft>
            </a:pPr>
            <a:r>
              <a:rPr sz="1100">
                <a:solidFill>
                  <a:srgbClr val="3A3A3A"/>
                </a:solidFill>
                <a:latin typeface="Inter"/>
              </a:rPr>
              <a:t>• New method, frozen struct, richer telemetry surface.</a:t>
            </a:r>
          </a:p>
        </p:txBody>
      </p:sp>
      <p:sp>
        <p:nvSpPr>
          <p:cNvPr id="22" name="Rectangle 21"/>
          <p:cNvSpPr/>
          <p:nvPr/>
        </p:nvSpPr>
        <p:spPr>
          <a:xfrm>
            <a:off x="6309360" y="4937760"/>
            <a:ext cx="5303520" cy="1371600"/>
          </a:xfrm>
          <a:prstGeom prst="rect">
            <a:avLst/>
          </a:prstGeom>
          <a:solidFill>
            <a:srgbClr val="FFFFFF"/>
          </a:solidFill>
          <a:ln w="15875">
            <a:solidFill>
              <a:srgbClr val="2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5029200"/>
            <a:ext cx="5029200" cy="365760"/>
          </a:xfrm>
          <a:prstGeom prst="rect">
            <a:avLst/>
          </a:prstGeom>
          <a:noFill/>
        </p:spPr>
        <p:txBody>
          <a:bodyPr wrap="square" lIns="0" rIns="0" tIns="0" bIns="0">
            <a:spAutoFit/>
          </a:bodyPr>
          <a:lstStyle/>
          <a:p>
            <a:pPr algn="l"/>
            <a:r>
              <a:rPr sz="1400" b="1">
                <a:solidFill>
                  <a:srgbClr val="2C7A3C"/>
                </a:solidFill>
                <a:latin typeface="Inter"/>
              </a:rPr>
              <a:t>What the human asked</a:t>
            </a:r>
          </a:p>
        </p:txBody>
      </p:sp>
      <p:sp>
        <p:nvSpPr>
          <p:cNvPr id="24" name="TextBox 23"/>
          <p:cNvSpPr txBox="1"/>
          <p:nvPr/>
        </p:nvSpPr>
        <p:spPr>
          <a:xfrm>
            <a:off x="6492240" y="5486400"/>
            <a:ext cx="4937760" cy="731520"/>
          </a:xfrm>
          <a:prstGeom prst="rect">
            <a:avLst/>
          </a:prstGeom>
          <a:noFill/>
        </p:spPr>
        <p:txBody>
          <a:bodyPr wrap="square" lIns="0" rIns="0">
            <a:spAutoFit/>
          </a:bodyPr>
          <a:lstStyle/>
          <a:p>
            <a:pPr>
              <a:spcAft>
                <a:spcPts val="400"/>
              </a:spcAft>
            </a:pPr>
            <a:r>
              <a:rPr sz="1100">
                <a:solidFill>
                  <a:srgbClr val="3A3A3A"/>
                </a:solidFill>
                <a:latin typeface="Inter"/>
              </a:rPr>
              <a:t>• 'Just call SemanticEmailCommands.enabled?'</a:t>
            </a:r>
          </a:p>
          <a:p>
            <a:pPr>
              <a:spcAft>
                <a:spcPts val="400"/>
              </a:spcAft>
            </a:pPr>
            <a:r>
              <a:rPr sz="1100">
                <a:solidFill>
                  <a:srgbClr val="3A3A3A"/>
                </a:solidFill>
                <a:latin typeface="Inter"/>
              </a:rPr>
              <a:t>• One line. NewRelic already has the telemetry.</a:t>
            </a:r>
          </a:p>
          <a:p>
            <a:pPr>
              <a:spcAft>
                <a:spcPts val="400"/>
              </a:spcAft>
            </a:pPr>
            <a:r>
              <a:rPr sz="1100">
                <a:solidFill>
                  <a:srgbClr val="3A3A3A"/>
                </a:solidFill>
                <a:latin typeface="Inter"/>
              </a:rPr>
              <a:t>• Delete the diagnostic helper entirely.</a:t>
            </a:r>
          </a:p>
        </p:txBody>
      </p:sp>
      <p:sp>
        <p:nvSpPr>
          <p:cNvPr id="25" name="TextBox 24"/>
          <p:cNvSpPr txBox="1"/>
          <p:nvPr/>
        </p:nvSpPr>
        <p:spPr>
          <a:xfrm>
            <a:off x="640080" y="6446520"/>
            <a:ext cx="10972800" cy="365760"/>
          </a:xfrm>
          <a:prstGeom prst="rect">
            <a:avLst/>
          </a:prstGeom>
          <a:noFill/>
        </p:spPr>
        <p:txBody>
          <a:bodyPr wrap="square" lIns="0" rIns="0" tIns="0" bIns="0">
            <a:spAutoFit/>
          </a:bodyPr>
          <a:lstStyle/>
          <a:p>
            <a:pPr algn="ctr"/>
            <a:r>
              <a:rPr sz="1400" b="1">
                <a:solidFill>
                  <a:srgbClr val="D96B0F"/>
                </a:solidFill>
                <a:latin typeface="Inter"/>
              </a:rPr>
              <a:t>What the human adds is permission-to-be-cheaper.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Challenge 5 — The taxes nobody warned you about</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Costs that scale with agentic velocity</a:t>
            </a:r>
          </a:p>
        </p:txBody>
      </p:sp>
      <p:sp>
        <p:nvSpPr>
          <p:cNvPr id="5" name="TextBox 4"/>
          <p:cNvSpPr txBox="1"/>
          <p:nvPr/>
        </p:nvSpPr>
        <p:spPr>
          <a:xfrm>
            <a:off x="640080" y="1417320"/>
            <a:ext cx="10972800" cy="365760"/>
          </a:xfrm>
          <a:prstGeom prst="rect">
            <a:avLst/>
          </a:prstGeom>
          <a:noFill/>
        </p:spPr>
        <p:txBody>
          <a:bodyPr wrap="square" lIns="0" rIns="0" tIns="0" bIns="0">
            <a:spAutoFit/>
          </a:bodyPr>
          <a:lstStyle/>
          <a:p>
            <a:pPr algn="l"/>
            <a:r>
              <a:rPr sz="1400" b="1">
                <a:solidFill>
                  <a:srgbClr val="0F2D52"/>
                </a:solidFill>
                <a:latin typeface="Inter"/>
              </a:rPr>
              <a:t>Narrative-keeping tax</a:t>
            </a:r>
          </a:p>
        </p:txBody>
      </p:sp>
      <p:sp>
        <p:nvSpPr>
          <p:cNvPr id="6" name="TextBox 5"/>
          <p:cNvSpPr txBox="1"/>
          <p:nvPr/>
        </p:nvSpPr>
        <p:spPr>
          <a:xfrm>
            <a:off x="822960" y="1764792"/>
            <a:ext cx="10789920" cy="548640"/>
          </a:xfrm>
          <a:prstGeom prst="rect">
            <a:avLst/>
          </a:prstGeom>
          <a:noFill/>
        </p:spPr>
        <p:txBody>
          <a:bodyPr wrap="square" lIns="0" rIns="0" tIns="0" bIns="0">
            <a:spAutoFit/>
          </a:bodyPr>
          <a:lstStyle/>
          <a:p>
            <a:pPr algn="l"/>
            <a:r>
              <a:rPr sz="1100" b="0">
                <a:solidFill>
                  <a:srgbClr val="3A3A3A"/>
                </a:solidFill>
                <a:latin typeface="Inter"/>
              </a:rPr>
              <a:t>20+ PRs, 3 repos, 6,680 LOC skills — no single artifact tells the project story. The worklog is the only continuous narrative. With agent velocity, project narrative becomes a separate explicit deliverable.</a:t>
            </a:r>
          </a:p>
        </p:txBody>
      </p:sp>
      <p:sp>
        <p:nvSpPr>
          <p:cNvPr id="7" name="TextBox 6"/>
          <p:cNvSpPr txBox="1"/>
          <p:nvPr/>
        </p:nvSpPr>
        <p:spPr>
          <a:xfrm>
            <a:off x="640080" y="2221992"/>
            <a:ext cx="10972800" cy="365760"/>
          </a:xfrm>
          <a:prstGeom prst="rect">
            <a:avLst/>
          </a:prstGeom>
          <a:noFill/>
        </p:spPr>
        <p:txBody>
          <a:bodyPr wrap="square" lIns="0" rIns="0" tIns="0" bIns="0">
            <a:spAutoFit/>
          </a:bodyPr>
          <a:lstStyle/>
          <a:p>
            <a:pPr algn="l"/>
            <a:r>
              <a:rPr sz="1400" b="1">
                <a:solidFill>
                  <a:srgbClr val="0F2D52"/>
                </a:solidFill>
                <a:latin typeface="Inter"/>
              </a:rPr>
              <a:t>PR-description tax</a:t>
            </a:r>
          </a:p>
        </p:txBody>
      </p:sp>
      <p:sp>
        <p:nvSpPr>
          <p:cNvPr id="8" name="TextBox 7"/>
          <p:cNvSpPr txBox="1"/>
          <p:nvPr/>
        </p:nvSpPr>
        <p:spPr>
          <a:xfrm>
            <a:off x="822960" y="2569464"/>
            <a:ext cx="10789920" cy="548640"/>
          </a:xfrm>
          <a:prstGeom prst="rect">
            <a:avLst/>
          </a:prstGeom>
          <a:noFill/>
        </p:spPr>
        <p:txBody>
          <a:bodyPr wrap="square" lIns="0" rIns="0" tIns="0" bIns="0">
            <a:spAutoFit/>
          </a:bodyPr>
          <a:lstStyle/>
          <a:p>
            <a:pPr algn="l"/>
            <a:r>
              <a:rPr sz="1100" b="0">
                <a:solidFill>
                  <a:srgbClr val="3A3A3A"/>
                </a:solidFill>
                <a:latin typeface="Inter"/>
              </a:rPr>
              <a:t>PR #70801 description was ~2,500 words before I trimmed it. Reviewer effort on PR-description reading is now non-trivial. Every PR description is itself agent output that needs editing.</a:t>
            </a:r>
          </a:p>
        </p:txBody>
      </p:sp>
      <p:sp>
        <p:nvSpPr>
          <p:cNvPr id="9" name="TextBox 8"/>
          <p:cNvSpPr txBox="1"/>
          <p:nvPr/>
        </p:nvSpPr>
        <p:spPr>
          <a:xfrm>
            <a:off x="640080" y="3026664"/>
            <a:ext cx="10972800" cy="365760"/>
          </a:xfrm>
          <a:prstGeom prst="rect">
            <a:avLst/>
          </a:prstGeom>
          <a:noFill/>
        </p:spPr>
        <p:txBody>
          <a:bodyPr wrap="square" lIns="0" rIns="0" tIns="0" bIns="0">
            <a:spAutoFit/>
          </a:bodyPr>
          <a:lstStyle/>
          <a:p>
            <a:pPr algn="l"/>
            <a:r>
              <a:rPr sz="1400" b="1">
                <a:solidFill>
                  <a:srgbClr val="0F2D52"/>
                </a:solidFill>
                <a:latin typeface="Inter"/>
              </a:rPr>
              <a:t>Skill-bundle review tax</a:t>
            </a:r>
          </a:p>
        </p:txBody>
      </p:sp>
      <p:sp>
        <p:nvSpPr>
          <p:cNvPr id="10" name="TextBox 9"/>
          <p:cNvSpPr txBox="1"/>
          <p:nvPr/>
        </p:nvSpPr>
        <p:spPr>
          <a:xfrm>
            <a:off x="822960" y="3374136"/>
            <a:ext cx="10789920" cy="548640"/>
          </a:xfrm>
          <a:prstGeom prst="rect">
            <a:avLst/>
          </a:prstGeom>
          <a:noFill/>
        </p:spPr>
        <p:txBody>
          <a:bodyPr wrap="square" lIns="0" rIns="0" tIns="0" bIns="0">
            <a:spAutoFit/>
          </a:bodyPr>
          <a:lstStyle/>
          <a:p>
            <a:pPr algn="l"/>
            <a:r>
              <a:rPr sz="1100" b="0">
                <a:solidFill>
                  <a:srgbClr val="3A3A3A"/>
                </a:solidFill>
                <a:latin typeface="Inter"/>
              </a:rPr>
              <a:t>6,680 lines of skills + rules has the same review-quality problem as code. Who reviewed it? What guarantees the patterns aren't 'whatever the agent did the first few times'?</a:t>
            </a:r>
          </a:p>
        </p:txBody>
      </p:sp>
      <p:sp>
        <p:nvSpPr>
          <p:cNvPr id="11" name="TextBox 10"/>
          <p:cNvSpPr txBox="1"/>
          <p:nvPr/>
        </p:nvSpPr>
        <p:spPr>
          <a:xfrm>
            <a:off x="640080" y="3831336"/>
            <a:ext cx="10972800" cy="365760"/>
          </a:xfrm>
          <a:prstGeom prst="rect">
            <a:avLst/>
          </a:prstGeom>
          <a:noFill/>
        </p:spPr>
        <p:txBody>
          <a:bodyPr wrap="square" lIns="0" rIns="0" tIns="0" bIns="0">
            <a:spAutoFit/>
          </a:bodyPr>
          <a:lstStyle/>
          <a:p>
            <a:pPr algn="l"/>
            <a:r>
              <a:rPr sz="1400" b="1">
                <a:solidFill>
                  <a:srgbClr val="0F2D52"/>
                </a:solidFill>
                <a:latin typeface="Inter"/>
              </a:rPr>
              <a:t>Scope-creep tax</a:t>
            </a:r>
          </a:p>
        </p:txBody>
      </p:sp>
      <p:sp>
        <p:nvSpPr>
          <p:cNvPr id="12" name="TextBox 11"/>
          <p:cNvSpPr txBox="1"/>
          <p:nvPr/>
        </p:nvSpPr>
        <p:spPr>
          <a:xfrm>
            <a:off x="822960" y="4178808"/>
            <a:ext cx="10789920" cy="548640"/>
          </a:xfrm>
          <a:prstGeom prst="rect">
            <a:avLst/>
          </a:prstGeom>
          <a:noFill/>
        </p:spPr>
        <p:txBody>
          <a:bodyPr wrap="square" lIns="0" rIns="0" tIns="0" bIns="0">
            <a:spAutoFit/>
          </a:bodyPr>
          <a:lstStyle/>
          <a:p>
            <a:pPr algn="l"/>
            <a:r>
              <a:rPr sz="1100" b="0">
                <a:solidFill>
                  <a:srgbClr val="3A3A3A"/>
                </a:solidFill>
                <a:latin typeface="Inter"/>
              </a:rPr>
              <a:t>Agent enriched two production controllers (apollo.rb, learning/assessments.rb) without scoping discussion. Had to be REVERTED and split into a follow-up PR.</a:t>
            </a:r>
          </a:p>
        </p:txBody>
      </p:sp>
      <p:sp>
        <p:nvSpPr>
          <p:cNvPr id="13" name="TextBox 12"/>
          <p:cNvSpPr txBox="1"/>
          <p:nvPr/>
        </p:nvSpPr>
        <p:spPr>
          <a:xfrm>
            <a:off x="640080" y="4636008"/>
            <a:ext cx="10972800" cy="365760"/>
          </a:xfrm>
          <a:prstGeom prst="rect">
            <a:avLst/>
          </a:prstGeom>
          <a:noFill/>
        </p:spPr>
        <p:txBody>
          <a:bodyPr wrap="square" lIns="0" rIns="0" tIns="0" bIns="0">
            <a:spAutoFit/>
          </a:bodyPr>
          <a:lstStyle/>
          <a:p>
            <a:pPr algn="l"/>
            <a:r>
              <a:rPr sz="1400" b="1">
                <a:solidFill>
                  <a:srgbClr val="0F2D52"/>
                </a:solidFill>
                <a:latin typeface="Inter"/>
              </a:rPr>
              <a:t>Comment-verbosity tax</a:t>
            </a:r>
          </a:p>
        </p:txBody>
      </p:sp>
      <p:sp>
        <p:nvSpPr>
          <p:cNvPr id="14" name="TextBox 13"/>
          <p:cNvSpPr txBox="1"/>
          <p:nvPr/>
        </p:nvSpPr>
        <p:spPr>
          <a:xfrm>
            <a:off x="822960" y="4983480"/>
            <a:ext cx="10789920" cy="548640"/>
          </a:xfrm>
          <a:prstGeom prst="rect">
            <a:avLst/>
          </a:prstGeom>
          <a:noFill/>
        </p:spPr>
        <p:txBody>
          <a:bodyPr wrap="square" lIns="0" rIns="0" tIns="0" bIns="0">
            <a:spAutoFit/>
          </a:bodyPr>
          <a:lstStyle/>
          <a:p>
            <a:pPr algn="l"/>
            <a:r>
              <a:rPr sz="1100" b="0">
                <a:solidFill>
                  <a:srgbClr val="3A3A3A"/>
                </a:solidFill>
                <a:latin typeface="Inter"/>
              </a:rPr>
              <a:t>First sweep removed 3,348 net comment lines. Then ANOTHER sweep removed opaque taxonomy ('Pattern E', '[RULE:foo]'). Then a new concise-code-comments rule had to be written.</a:t>
            </a:r>
          </a:p>
        </p:txBody>
      </p:sp>
      <p:sp>
        <p:nvSpPr>
          <p:cNvPr id="15" name="TextBox 14"/>
          <p:cNvSpPr txBox="1"/>
          <p:nvPr/>
        </p:nvSpPr>
        <p:spPr>
          <a:xfrm>
            <a:off x="640080" y="5440680"/>
            <a:ext cx="10972800" cy="365760"/>
          </a:xfrm>
          <a:prstGeom prst="rect">
            <a:avLst/>
          </a:prstGeom>
          <a:noFill/>
        </p:spPr>
        <p:txBody>
          <a:bodyPr wrap="square" lIns="0" rIns="0" tIns="0" bIns="0">
            <a:spAutoFit/>
          </a:bodyPr>
          <a:lstStyle/>
          <a:p>
            <a:pPr algn="l"/>
            <a:r>
              <a:rPr sz="1400" b="1">
                <a:solidFill>
                  <a:srgbClr val="0F2D52"/>
                </a:solidFill>
                <a:latin typeface="Inter"/>
              </a:rPr>
              <a:t>Production downstream tax</a:t>
            </a:r>
          </a:p>
        </p:txBody>
      </p:sp>
      <p:sp>
        <p:nvSpPr>
          <p:cNvPr id="16" name="TextBox 15"/>
          <p:cNvSpPr txBox="1"/>
          <p:nvPr/>
        </p:nvSpPr>
        <p:spPr>
          <a:xfrm>
            <a:off x="822960" y="5788152"/>
            <a:ext cx="10789920" cy="548640"/>
          </a:xfrm>
          <a:prstGeom prst="rect">
            <a:avLst/>
          </a:prstGeom>
          <a:noFill/>
        </p:spPr>
        <p:txBody>
          <a:bodyPr wrap="square" lIns="0" rIns="0" tIns="0" bIns="0">
            <a:spAutoFit/>
          </a:bodyPr>
          <a:lstStyle/>
          <a:p>
            <a:pPr algn="l"/>
            <a:r>
              <a:rPr sz="1100" b="0">
                <a:solidFill>
                  <a:srgbClr val="3A3A3A"/>
                </a:solidFill>
                <a:latin typeface="Inter"/>
              </a:rPr>
              <a:t>Email volume changes from migration triggered email_tracking_details_v1 timeouts (PR #71197). Agentic feature velocity can outrun ops's ability to right-size dependent systems.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F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457200"/>
          </a:xfrm>
          <a:prstGeom prst="rect">
            <a:avLst/>
          </a:prstGeom>
          <a:noFill/>
        </p:spPr>
        <p:txBody>
          <a:bodyPr wrap="square" lIns="0" rIns="0" tIns="0" bIns="0">
            <a:spAutoFit/>
          </a:bodyPr>
          <a:lstStyle/>
          <a:p>
            <a:pPr algn="l"/>
            <a:r>
              <a:rPr sz="2400" b="1">
                <a:solidFill>
                  <a:srgbClr val="FFFFFF"/>
                </a:solidFill>
                <a:latin typeface="Inter"/>
              </a:rPr>
              <a:t>What I'd do differently next time</a:t>
            </a:r>
          </a:p>
        </p:txBody>
      </p:sp>
      <p:sp>
        <p:nvSpPr>
          <p:cNvPr id="4" name="TextBox 3"/>
          <p:cNvSpPr txBox="1"/>
          <p:nvPr/>
        </p:nvSpPr>
        <p:spPr>
          <a:xfrm>
            <a:off x="457200" y="960120"/>
            <a:ext cx="10972800" cy="365760"/>
          </a:xfrm>
          <a:prstGeom prst="rect">
            <a:avLst/>
          </a:prstGeom>
          <a:noFill/>
        </p:spPr>
        <p:txBody>
          <a:bodyPr wrap="square" lIns="0" rIns="0" tIns="0" bIns="0">
            <a:spAutoFit/>
          </a:bodyPr>
          <a:lstStyle/>
          <a:p>
            <a:pPr algn="l"/>
            <a:r>
              <a:rPr sz="1400" b="1">
                <a:solidFill>
                  <a:srgbClr val="007A87"/>
                </a:solidFill>
                <a:latin typeface="Inter"/>
              </a:rPr>
              <a:t>Five concrete process changes</a:t>
            </a:r>
          </a:p>
        </p:txBody>
      </p:sp>
      <p:sp>
        <p:nvSpPr>
          <p:cNvPr id="5" name="TextBox 4"/>
          <p:cNvSpPr txBox="1"/>
          <p:nvPr/>
        </p:nvSpPr>
        <p:spPr>
          <a:xfrm>
            <a:off x="640080" y="1463040"/>
            <a:ext cx="10972800" cy="457200"/>
          </a:xfrm>
          <a:prstGeom prst="rect">
            <a:avLst/>
          </a:prstGeom>
          <a:noFill/>
        </p:spPr>
        <p:txBody>
          <a:bodyPr wrap="square" lIns="0" rIns="0" tIns="0" bIns="0">
            <a:spAutoFit/>
          </a:bodyPr>
          <a:lstStyle/>
          <a:p>
            <a:pPr algn="l"/>
            <a:r>
              <a:rPr sz="1600" b="1">
                <a:solidFill>
                  <a:srgbClr val="D96B0F"/>
                </a:solidFill>
                <a:latin typeface="Inter"/>
              </a:rPr>
              <a:t>1. Scope-boundary memo BEFORE agent work begins.</a:t>
            </a:r>
          </a:p>
        </p:txBody>
      </p:sp>
      <p:sp>
        <p:nvSpPr>
          <p:cNvPr id="6" name="TextBox 5"/>
          <p:cNvSpPr txBox="1"/>
          <p:nvPr/>
        </p:nvSpPr>
        <p:spPr>
          <a:xfrm>
            <a:off x="822960" y="1874520"/>
            <a:ext cx="10789920" cy="640080"/>
          </a:xfrm>
          <a:prstGeom prst="rect">
            <a:avLst/>
          </a:prstGeom>
          <a:noFill/>
        </p:spPr>
        <p:txBody>
          <a:bodyPr wrap="square" lIns="0" rIns="0" tIns="0" bIns="0">
            <a:spAutoFit/>
          </a:bodyPr>
          <a:lstStyle/>
          <a:p>
            <a:pPr algn="l"/>
            <a:r>
              <a:rPr sz="1400" b="0">
                <a:solidFill>
                  <a:srgbClr val="3A3A3A"/>
                </a:solidFill>
                <a:latin typeface="Inter"/>
              </a:rPr>
              <a:t>Which files / which paths are out of scope. Saves the apollo.rb revert cycle.</a:t>
            </a:r>
          </a:p>
        </p:txBody>
      </p:sp>
      <p:sp>
        <p:nvSpPr>
          <p:cNvPr id="7" name="TextBox 6"/>
          <p:cNvSpPr txBox="1"/>
          <p:nvPr/>
        </p:nvSpPr>
        <p:spPr>
          <a:xfrm>
            <a:off x="640080" y="2377440"/>
            <a:ext cx="10972800" cy="457200"/>
          </a:xfrm>
          <a:prstGeom prst="rect">
            <a:avLst/>
          </a:prstGeom>
          <a:noFill/>
        </p:spPr>
        <p:txBody>
          <a:bodyPr wrap="square" lIns="0" rIns="0" tIns="0" bIns="0">
            <a:spAutoFit/>
          </a:bodyPr>
          <a:lstStyle/>
          <a:p>
            <a:pPr algn="l"/>
            <a:r>
              <a:rPr sz="1600" b="1">
                <a:solidFill>
                  <a:srgbClr val="D96B0F"/>
                </a:solidFill>
                <a:latin typeface="Inter"/>
              </a:rPr>
              <a:t>2. Pre-load institutional context explicitly.</a:t>
            </a:r>
          </a:p>
        </p:txBody>
      </p:sp>
      <p:sp>
        <p:nvSpPr>
          <p:cNvPr id="8" name="TextBox 7"/>
          <p:cNvSpPr txBox="1"/>
          <p:nvPr/>
        </p:nvSpPr>
        <p:spPr>
          <a:xfrm>
            <a:off x="822960" y="2788920"/>
            <a:ext cx="10789920" cy="640080"/>
          </a:xfrm>
          <a:prstGeom prst="rect">
            <a:avLst/>
          </a:prstGeom>
          <a:noFill/>
        </p:spPr>
        <p:txBody>
          <a:bodyPr wrap="square" lIns="0" rIns="0" tIns="0" bIns="0">
            <a:spAutoFit/>
          </a:bodyPr>
          <a:lstStyle/>
          <a:p>
            <a:pPr algn="l"/>
            <a:r>
              <a:rPr sz="1400" b="0">
                <a:solidFill>
                  <a:srgbClr val="3A3A3A"/>
                </a:solidFill>
                <a:latin typeface="Inter"/>
              </a:rPr>
              <a:t>'X is the canonical source, not Y' as a kickoff sentence. Saves the KIND_CATEGORY refactor.</a:t>
            </a:r>
          </a:p>
        </p:txBody>
      </p:sp>
      <p:sp>
        <p:nvSpPr>
          <p:cNvPr id="9" name="TextBox 8"/>
          <p:cNvSpPr txBox="1"/>
          <p:nvPr/>
        </p:nvSpPr>
        <p:spPr>
          <a:xfrm>
            <a:off x="640080" y="3291840"/>
            <a:ext cx="10972800" cy="457200"/>
          </a:xfrm>
          <a:prstGeom prst="rect">
            <a:avLst/>
          </a:prstGeom>
          <a:noFill/>
        </p:spPr>
        <p:txBody>
          <a:bodyPr wrap="square" lIns="0" rIns="0" tIns="0" bIns="0">
            <a:spAutoFit/>
          </a:bodyPr>
          <a:lstStyle/>
          <a:p>
            <a:pPr algn="l"/>
            <a:r>
              <a:rPr sz="1600" b="1">
                <a:solidFill>
                  <a:srgbClr val="D96B0F"/>
                </a:solidFill>
                <a:latin typeface="Inter"/>
              </a:rPr>
              <a:t>3. Use the split-to-prs skill earlier.</a:t>
            </a:r>
          </a:p>
        </p:txBody>
      </p:sp>
      <p:sp>
        <p:nvSpPr>
          <p:cNvPr id="10" name="TextBox 9"/>
          <p:cNvSpPr txBox="1"/>
          <p:nvPr/>
        </p:nvSpPr>
        <p:spPr>
          <a:xfrm>
            <a:off x="822960" y="3703320"/>
            <a:ext cx="10789920" cy="640080"/>
          </a:xfrm>
          <a:prstGeom prst="rect">
            <a:avLst/>
          </a:prstGeom>
          <a:noFill/>
        </p:spPr>
        <p:txBody>
          <a:bodyPr wrap="square" lIns="0" rIns="0" tIns="0" bIns="0">
            <a:spAutoFit/>
          </a:bodyPr>
          <a:lstStyle/>
          <a:p>
            <a:pPr algn="l"/>
            <a:r>
              <a:rPr sz="1400" b="0">
                <a:solidFill>
                  <a:srgbClr val="3A3A3A"/>
                </a:solidFill>
                <a:latin typeface="Inter"/>
              </a:rPr>
              <a:t>Target ≤500 LOC per PR for reviewer sanity. Even chained 5x, beats a single 54-file PR.</a:t>
            </a:r>
          </a:p>
        </p:txBody>
      </p:sp>
      <p:sp>
        <p:nvSpPr>
          <p:cNvPr id="11" name="TextBox 10"/>
          <p:cNvSpPr txBox="1"/>
          <p:nvPr/>
        </p:nvSpPr>
        <p:spPr>
          <a:xfrm>
            <a:off x="640080" y="4206240"/>
            <a:ext cx="10972800" cy="457200"/>
          </a:xfrm>
          <a:prstGeom prst="rect">
            <a:avLst/>
          </a:prstGeom>
          <a:noFill/>
        </p:spPr>
        <p:txBody>
          <a:bodyPr wrap="square" lIns="0" rIns="0" tIns="0" bIns="0">
            <a:spAutoFit/>
          </a:bodyPr>
          <a:lstStyle/>
          <a:p>
            <a:pPr algn="l"/>
            <a:r>
              <a:rPr sz="1600" b="1">
                <a:solidFill>
                  <a:srgbClr val="D96B0F"/>
                </a:solidFill>
                <a:latin typeface="Inter"/>
              </a:rPr>
              <a:t>4. Require a 'spec drift' pass after every production-code change.</a:t>
            </a:r>
          </a:p>
        </p:txBody>
      </p:sp>
      <p:sp>
        <p:nvSpPr>
          <p:cNvPr id="12" name="TextBox 11"/>
          <p:cNvSpPr txBox="1"/>
          <p:nvPr/>
        </p:nvSpPr>
        <p:spPr>
          <a:xfrm>
            <a:off x="822960" y="4617720"/>
            <a:ext cx="10789920" cy="640080"/>
          </a:xfrm>
          <a:prstGeom prst="rect">
            <a:avLst/>
          </a:prstGeom>
          <a:noFill/>
        </p:spPr>
        <p:txBody>
          <a:bodyPr wrap="square" lIns="0" rIns="0" tIns="0" bIns="0">
            <a:spAutoFit/>
          </a:bodyPr>
          <a:lstStyle/>
          <a:p>
            <a:pPr algn="l"/>
            <a:r>
              <a:rPr sz="1400" b="0">
                <a:solidFill>
                  <a:srgbClr val="3A3A3A"/>
                </a:solidFill>
                <a:latin typeface="Inter"/>
              </a:rPr>
              <a:t>Agent self-prompt to find dependent specs and update them in the SAME commit. Avoids the stale-spec follow-up commits.</a:t>
            </a:r>
          </a:p>
        </p:txBody>
      </p:sp>
      <p:sp>
        <p:nvSpPr>
          <p:cNvPr id="13" name="TextBox 12"/>
          <p:cNvSpPr txBox="1"/>
          <p:nvPr/>
        </p:nvSpPr>
        <p:spPr>
          <a:xfrm>
            <a:off x="640080" y="5120640"/>
            <a:ext cx="10972800" cy="457200"/>
          </a:xfrm>
          <a:prstGeom prst="rect">
            <a:avLst/>
          </a:prstGeom>
          <a:noFill/>
        </p:spPr>
        <p:txBody>
          <a:bodyPr wrap="square" lIns="0" rIns="0" tIns="0" bIns="0">
            <a:spAutoFit/>
          </a:bodyPr>
          <a:lstStyle/>
          <a:p>
            <a:pPr algn="l"/>
            <a:r>
              <a:rPr sz="1600" b="1">
                <a:solidFill>
                  <a:srgbClr val="D96B0F"/>
                </a:solidFill>
                <a:latin typeface="Inter"/>
              </a:rPr>
              <a:t>5. Codify the discipline rules BEFORE the project, not after the cleanup commit.</a:t>
            </a:r>
          </a:p>
        </p:txBody>
      </p:sp>
      <p:sp>
        <p:nvSpPr>
          <p:cNvPr id="14" name="TextBox 13"/>
          <p:cNvSpPr txBox="1"/>
          <p:nvPr/>
        </p:nvSpPr>
        <p:spPr>
          <a:xfrm>
            <a:off x="822960" y="5532120"/>
            <a:ext cx="10789920" cy="640080"/>
          </a:xfrm>
          <a:prstGeom prst="rect">
            <a:avLst/>
          </a:prstGeom>
          <a:noFill/>
        </p:spPr>
        <p:txBody>
          <a:bodyPr wrap="square" lIns="0" rIns="0" tIns="0" bIns="0">
            <a:spAutoFit/>
          </a:bodyPr>
          <a:lstStyle/>
          <a:p>
            <a:pPr algn="l"/>
            <a:r>
              <a:rPr sz="1400" b="0">
                <a:solidFill>
                  <a:srgbClr val="3A3A3A"/>
                </a:solidFill>
                <a:latin typeface="Inter"/>
              </a:rPr>
              <a:t>concise-code-comments + effective-cursor-rules + iidgen pre-commit hook — all reactively built mid-project. Should be inputs, not outputs.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0"/>
            <a:ext cx="10972800" cy="914400"/>
          </a:xfrm>
          <a:prstGeom prst="rect">
            <a:avLst/>
          </a:prstGeom>
          <a:noFill/>
        </p:spPr>
        <p:txBody>
          <a:bodyPr wrap="square" lIns="0" rIns="0" tIns="0" bIns="0">
            <a:spAutoFit/>
          </a:bodyPr>
          <a:lstStyle/>
          <a:p>
            <a:pPr algn="l"/>
            <a:r>
              <a:rPr sz="4000" b="1">
                <a:solidFill>
                  <a:srgbClr val="FFFFFF"/>
                </a:solidFill>
                <a:latin typeface="Inter"/>
              </a:rPr>
              <a:t>The net assessment</a:t>
            </a:r>
          </a:p>
        </p:txBody>
      </p:sp>
      <p:sp>
        <p:nvSpPr>
          <p:cNvPr id="4" name="TextBox 3"/>
          <p:cNvSpPr txBox="1"/>
          <p:nvPr/>
        </p:nvSpPr>
        <p:spPr>
          <a:xfrm>
            <a:off x="640080" y="2468880"/>
            <a:ext cx="10972800" cy="640080"/>
          </a:xfrm>
          <a:prstGeom prst="rect">
            <a:avLst/>
          </a:prstGeom>
          <a:noFill/>
        </p:spPr>
        <p:txBody>
          <a:bodyPr wrap="square" lIns="0" rIns="0" tIns="0" bIns="0">
            <a:spAutoFit/>
          </a:bodyPr>
          <a:lstStyle/>
          <a:p>
            <a:pPr algn="l"/>
            <a:r>
              <a:rPr sz="2200" b="1">
                <a:solidFill>
                  <a:srgbClr val="D96B0F"/>
                </a:solidFill>
                <a:latin typeface="Inter"/>
              </a:rPr>
              <a:t>Where agentic coding actually shines</a:t>
            </a:r>
          </a:p>
        </p:txBody>
      </p:sp>
      <p:sp>
        <p:nvSpPr>
          <p:cNvPr id="5" name="TextBox 4"/>
          <p:cNvSpPr txBox="1"/>
          <p:nvPr/>
        </p:nvSpPr>
        <p:spPr>
          <a:xfrm>
            <a:off x="822960" y="3017520"/>
            <a:ext cx="10972800" cy="1645920"/>
          </a:xfrm>
          <a:prstGeom prst="rect">
            <a:avLst/>
          </a:prstGeom>
          <a:noFill/>
        </p:spPr>
        <p:txBody>
          <a:bodyPr wrap="square" lIns="0" rIns="0">
            <a:spAutoFit/>
          </a:bodyPr>
          <a:lstStyle/>
          <a:p>
            <a:pPr>
              <a:spcAft>
                <a:spcPts val="800"/>
              </a:spcAft>
            </a:pPr>
            <a:r>
              <a:rPr sz="1600">
                <a:solidFill>
                  <a:srgbClr val="FFFFFF"/>
                </a:solidFill>
                <a:latin typeface="Inter"/>
              </a:rPr>
              <a:t>• Tooling-rich migrations where the work is breadth-driven, patterns are codifiable, and validation is mechanical.</a:t>
            </a:r>
          </a:p>
          <a:p>
            <a:pPr>
              <a:spcAft>
                <a:spcPts val="800"/>
              </a:spcAft>
            </a:pPr>
            <a:r>
              <a:rPr sz="1600">
                <a:solidFill>
                  <a:srgbClr val="FFFFFF"/>
                </a:solidFill>
                <a:latin typeface="Inter"/>
              </a:rPr>
              <a:t>• Projects where the durable artifact is the skill bundle, not the diff.</a:t>
            </a:r>
          </a:p>
          <a:p>
            <a:pPr>
              <a:spcAft>
                <a:spcPts val="800"/>
              </a:spcAft>
            </a:pPr>
            <a:r>
              <a:rPr sz="1600">
                <a:solidFill>
                  <a:srgbClr val="FFFFFF"/>
                </a:solidFill>
                <a:latin typeface="Inter"/>
              </a:rPr>
              <a:t>• Cross-repo / cross-tool coordination at agent-speed.</a:t>
            </a:r>
          </a:p>
        </p:txBody>
      </p:sp>
      <p:sp>
        <p:nvSpPr>
          <p:cNvPr id="6" name="TextBox 5"/>
          <p:cNvSpPr txBox="1"/>
          <p:nvPr/>
        </p:nvSpPr>
        <p:spPr>
          <a:xfrm>
            <a:off x="640080" y="4937760"/>
            <a:ext cx="10972800" cy="640080"/>
          </a:xfrm>
          <a:prstGeom prst="rect">
            <a:avLst/>
          </a:prstGeom>
          <a:noFill/>
        </p:spPr>
        <p:txBody>
          <a:bodyPr wrap="square" lIns="0" rIns="0" tIns="0" bIns="0">
            <a:spAutoFit/>
          </a:bodyPr>
          <a:lstStyle/>
          <a:p>
            <a:pPr algn="l"/>
            <a:r>
              <a:rPr sz="2200" b="1">
                <a:solidFill>
                  <a:srgbClr val="D96B0F"/>
                </a:solidFill>
                <a:latin typeface="Inter"/>
              </a:rPr>
              <a:t>Where the human still matters most</a:t>
            </a:r>
          </a:p>
        </p:txBody>
      </p:sp>
      <p:sp>
        <p:nvSpPr>
          <p:cNvPr id="7" name="TextBox 6"/>
          <p:cNvSpPr txBox="1"/>
          <p:nvPr/>
        </p:nvSpPr>
        <p:spPr>
          <a:xfrm>
            <a:off x="822960" y="5486400"/>
            <a:ext cx="10972800" cy="1097280"/>
          </a:xfrm>
          <a:prstGeom prst="rect">
            <a:avLst/>
          </a:prstGeom>
          <a:noFill/>
        </p:spPr>
        <p:txBody>
          <a:bodyPr wrap="square" lIns="0" rIns="0">
            <a:spAutoFit/>
          </a:bodyPr>
          <a:lstStyle/>
          <a:p>
            <a:pPr>
              <a:spcAft>
                <a:spcPts val="800"/>
              </a:spcAft>
            </a:pPr>
            <a:r>
              <a:rPr sz="1600">
                <a:solidFill>
                  <a:srgbClr val="FFFFFF"/>
                </a:solidFill>
                <a:latin typeface="Inter"/>
              </a:rPr>
              <a:t>• Setting the premise. Scoping the scope. Asking the deletion question.</a:t>
            </a:r>
          </a:p>
          <a:p>
            <a:pPr>
              <a:spcAft>
                <a:spcPts val="800"/>
              </a:spcAft>
            </a:pPr>
            <a:r>
              <a:rPr sz="1600">
                <a:solidFill>
                  <a:srgbClr val="FFFFFF"/>
                </a:solidFill>
                <a:latin typeface="Inter"/>
              </a:rPr>
              <a:t>• Permission to be cheaper.</a:t>
            </a:r>
          </a:p>
        </p:txBody>
      </p:sp>
      <p:sp>
        <p:nvSpPr>
          <p:cNvPr id="8" name="TextBox 7"/>
          <p:cNvSpPr txBox="1"/>
          <p:nvPr/>
        </p:nvSpPr>
        <p:spPr>
          <a:xfrm>
            <a:off x="640080" y="6446520"/>
            <a:ext cx="10972800" cy="365760"/>
          </a:xfrm>
          <a:prstGeom prst="rect">
            <a:avLst/>
          </a:prstGeom>
          <a:noFill/>
        </p:spPr>
        <p:txBody>
          <a:bodyPr wrap="square" lIns="0" rIns="0" tIns="0" bIns="0">
            <a:spAutoFit/>
          </a:bodyPr>
          <a:lstStyle/>
          <a:p>
            <a:pPr algn="ctr"/>
            <a:r>
              <a:rPr sz="1800" b="1">
                <a:solidFill>
                  <a:srgbClr val="EEEEEE"/>
                </a:solidFill>
                <a:latin typeface="Inter"/>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